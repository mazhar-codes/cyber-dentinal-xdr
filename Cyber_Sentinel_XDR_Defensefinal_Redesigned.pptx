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rts/chart1.xml" ContentType="application/vnd.openxmlformats-officedocument.drawingml.chart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6" r:id="rId51"/>
    <p:sldId id="297" r:id="rId52"/>
    <p:sldId id="350" r:id="rId53"/>
    <p:sldId id="345" r:id="rId54"/>
    <p:sldId id="348" r:id="rId55"/>
    <p:sldId id="344" r:id="rId56"/>
    <p:sldId id="323" r:id="rId57"/>
    <p:sldId id="324" r:id="rId58"/>
    <p:sldId id="335" r:id="rId59"/>
    <p:sldId id="326" r:id="rId60"/>
    <p:sldId id="336" r:id="rId61"/>
    <p:sldId id="337" r:id="rId62"/>
    <p:sldId id="327" r:id="rId63"/>
    <p:sldId id="328" r:id="rId64"/>
    <p:sldId id="338" r:id="rId65"/>
    <p:sldId id="329" r:id="rId66"/>
    <p:sldId id="339" r:id="rId67"/>
    <p:sldId id="330" r:id="rId68"/>
    <p:sldId id="340" r:id="rId69"/>
    <p:sldId id="331" r:id="rId70"/>
    <p:sldId id="341" r:id="rId71"/>
    <p:sldId id="332" r:id="rId72"/>
    <p:sldId id="342" r:id="rId73"/>
    <p:sldId id="333" r:id="rId74"/>
    <p:sldId id="343" r:id="rId75"/>
    <p:sldId id="334" r:id="rId76"/>
    <p:sldId id="305" r:id="rId77"/>
    <p:sldId id="306" r:id="rId78"/>
    <p:sldId id="308" r:id="rId79"/>
    <p:sldId id="310" r:id="rId80"/>
    <p:sldId id="347" r:id="rId81"/>
    <p:sldId id="322" r:id="rId82"/>
    <p:sldId id="311" r:id="rId8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1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D7A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55-4E9B-B249-4BC1A598A947}"/>
              </c:ext>
            </c:extLst>
          </c:dPt>
          <c:dPt>
            <c:idx val="1"/>
            <c:invertIfNegative val="0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55-4E9B-B249-4BC1A598A947}"/>
              </c:ext>
            </c:extLst>
          </c:dPt>
          <c:dPt>
            <c:idx val="2"/>
            <c:invertIfNegative val="0"/>
            <c:bubble3D val="0"/>
            <c:spPr>
              <a:solidFill>
                <a:srgbClr val="5B21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55-4E9B-B249-4BC1A598A947}"/>
              </c:ext>
            </c:extLst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55-4E9B-B249-4BC1A598A9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Malware</c:v>
                </c:pt>
                <c:pt idx="2">
                  <c:v>User </c:v>
                </c:pt>
                <c:pt idx="3">
                  <c:v>System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0.98619999999999997</c:v>
                </c:pt>
                <c:pt idx="1">
                  <c:v>0.98409999999999997</c:v>
                </c:pt>
                <c:pt idx="2">
                  <c:v>0.83020000000000005</c:v>
                </c:pt>
                <c:pt idx="3">
                  <c:v>0.73440000000000005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855-4E9B-B249-4BC1A598A9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anchor="t" anchorCtr="0"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BFDB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45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1762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9189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165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3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923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AI-DRIVEN EXTENDED DETECTION &amp;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04649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SENTINEL</a:t>
            </a:r>
            <a:endParaRPr lang="en-US" sz="6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4079823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machine learning platform that fuses network, user-behavior, system, and malware detection into one real-time SOC threat score — with explainable alerts and automated response.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065413"/>
            <a:ext cx="49377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6541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YEAR PROJECT DEFENSE PRESENTATION  ·  BS COMPUTER SCIENCE  ·  2026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6006301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Annas Habib   ·   Syed Mazhar Hussain Shah   ·   Malaika Rashid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559240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Syed Nasir Mehmood Shah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60EB26-F102-D107-0503-2EE66D66F6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868"/>
            <a:ext cx="12192000" cy="1299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307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463040" y="16184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motivation, threat landscape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176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63040" y="24871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scope, methodology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97180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044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63040" y="3355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design, fusion, 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913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System Design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2245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class, ERD, sequence diagrams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782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63040" y="50932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CIC-IDS2017, CERT r4.2, GHC, EMBER 2018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23444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64808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1307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23760" y="16184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matrices, ROC/PR curves per agent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0312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64808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2176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 And Tech Stack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223760" y="24871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audit findings, fixes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297180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64808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23760" y="3044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 Walkthrough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23760" y="33558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84048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64808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3913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223760" y="42245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performance, benchmarks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709160"/>
            <a:ext cx="5349240" cy="722376"/>
          </a:xfrm>
          <a:prstGeom prst="roundRect">
            <a:avLst>
              <a:gd name="adj" fmla="val 1012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64808" y="4800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223760" y="4782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223760" y="50932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limitations, roadmap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landscape, why single-point detection fails, and where Cyber Sentinel XDR fits.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Detection Tools Are Blind to Multi-Stage Attacks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8105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233172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flow anomalies, blind to what happens after the packet lands on a host.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8105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53712" y="233172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process and file behavior, blind to network reconnaissance preceding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1554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8105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Rule Engines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48472" y="2331720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known signatures; cannot flag deviations from a baseline they were never given.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intrusion is rarely confined to one telemetry domain — it moves through network reconnaissance, host-level execution, and credential abuse in sequence. Tools that watch only one domain see only one fragment of the attack.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OF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Detection Gaps Keeps Growing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057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32004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identify and contain a breach (IBM, industry-wide average)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6916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057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$4.45M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57016" y="32004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 cost of a single data breach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08776" y="16916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08776" y="2057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9944" y="32004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involved a human element across multiple attack stages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61704" y="16916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61704" y="2057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061704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AVG.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62872" y="320040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an enterprise SOC analyst must correlate manually per incident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Cost of a Data Breach Report; Verizon DBIR — figures represent widely-cited industry averages used to motivate this research, not Cyber Sentinel XDR's own measurements.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FOR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XDR Means — And Why It's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7556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58952" y="22677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Detection &amp; Response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274320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domain: host telemetry only. Misses network and user-session context entirely.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7556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53712" y="22677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Detection &amp;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274320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domain: network flow only. Misses what happens once an attacker is already on the host.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11827"/>
          </a:solidFill>
          <a:ln w="1905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17556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48472" y="22677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Extended Detection &amp; 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48472" y="274320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by definition — correlates network, user, system, and file signals into one decision.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 of this project: separating detection by domain lets each model specialize on its native data distribution — fusion then reconstructs the cross-domain picture no single sensor could see alone.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questions, objectives, and the scope this project commits to answering.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GUIDING OUR INVESTIGATION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Fusion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38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independently-trained models for network, user, system, and malware telemetry be fused into one actionable threat score without losing per-domain detection accuracy?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64208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600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1938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SHAP-based attribution give a SOC analyst a human-readable reason for every fused alert, rather than an opaque score?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35808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Real-World Data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310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detection models trained on severely imbalanced telemetry (insider threats, rare malware) perform once deployed, and what does that imply for threshold calibration?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8346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035808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310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MITRE ATT&amp;CK-mapped response engine safely auto-execute containment actions for CRITICAL-severity events while keeping a human in the loop for lower severities?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313432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four independent ML models, one per telemetry domain, each evaluated on real public datasets.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8848" y="19659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Fusion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2313432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four per-agent scores into one severity decision using documented, tunable weights — not an opaque black box.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93608" y="19659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2313432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SHAP-derived, human-readable reason to every alert that crosses threshold.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35844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Response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" y="39319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fused alerts to MITRE ATT&amp;CK techniques and trigger response actions automatically for CRITICAL severity.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98848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98848" y="35844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98848" y="39319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analyst a live, role-aware (Admin/Analyst/Viewer) interface to monitor, investigate, and respond.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244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3608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93608" y="35844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93608" y="39319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real evaluation numbers — including where a model underperforms — rather than only favorable metrics.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four-agent detection core, fusion engine, and SOAR response pipeline.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ARCHITECTURE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140A24-215E-4727-6DDB-EBA84421E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17146"/>
            <a:ext cx="11186160" cy="59933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FOUR-AGENT DETECTION 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Per Model,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920240" cy="7132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1508760"/>
            <a:ext cx="3657600" cy="7132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5087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Model(s)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508760"/>
            <a:ext cx="2377440" cy="7132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58200" y="1508760"/>
            <a:ext cx="3657600" cy="7132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5087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Catches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21992"/>
            <a:ext cx="19202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2199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2221992"/>
            <a:ext cx="36576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2219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→ RandomForest (2-gate)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221992"/>
            <a:ext cx="2377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22199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2221992"/>
            <a:ext cx="36576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2219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DoS, DDoS, PortScan, Botnet, BruteForce, Infiltration, Heartbleed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935224"/>
            <a:ext cx="192024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3522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2935224"/>
            <a:ext cx="36576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9352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35224"/>
            <a:ext cx="237744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93522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r4.2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58200" y="2935224"/>
            <a:ext cx="36576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29352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threats, abnormal login patterns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648456"/>
            <a:ext cx="19202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4845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23160" y="3648456"/>
            <a:ext cx="36576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64845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 + TF-IDF/IsolationForest/XGBoost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3648456"/>
            <a:ext cx="2377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6484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 call traces (ADFA-WD val.)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58200" y="3648456"/>
            <a:ext cx="36576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364845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Backdoor, SMB/FTP/WebDAV exploits, browser/PDF exploits, rogue 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361688"/>
            <a:ext cx="192024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616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23160" y="4361688"/>
            <a:ext cx="36576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436168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4361688"/>
            <a:ext cx="237744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36168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2018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58200" y="4361688"/>
            <a:ext cx="36576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436168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PE files (static analysis, pre-execution)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RATIONALE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One Model For Everything?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225856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feature space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2880360"/>
            <a:ext cx="3008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statistics, login sequences, call-stack traces, and binary headers are four mathematically different spaces. A model trained on one cannot natively learn the others.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225856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attacks evade single sensors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880360"/>
            <a:ext cx="3008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intrusions cross domains by design — recon in network, execution in system, exfiltration via user sessions — staying under any one detector's threshold alone.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48472" y="225856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definition of XDR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8472" y="2880360"/>
            <a:ext cx="3008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single-point IDS or AV, cross-domain correlation is the entire premise. Fusion reconstructs a picture no individual sensor can see alone.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 — Weighted Score Aggregation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008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0.35·Network + 0.30·User + 0.15·System + 0.20·Malware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78040" y="14630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decision thresholds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186537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0.50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2157984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7824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– 0.69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2450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– 0.84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78040" y="27432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706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0.85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multi-domain attacks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≥2 agents independently agree (e.g. malware = malicious + system = HIGH/CRITICAL), the fusion engine labels the event a correlated attack — e.g. "Ransomware Activity" — even if no single agent alone crossed CRITICAL.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specific weights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3520440"/>
            <a:ext cx="5166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(0.35) and Malware (0.20) carry more weight as higher-precision signals; User (0.30) and System (0.15) are weighted lower to offset their class-imbalance-driven noise — tunable live from the Settings panel.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ATTACK-TIME SEQUENCE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8DA3F6-FDAF-5869-C848-4C28C2ADC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1" r="2595"/>
          <a:stretch/>
        </p:blipFill>
        <p:spPr>
          <a:xfrm>
            <a:off x="1191491" y="700327"/>
            <a:ext cx="9809017" cy="56950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Engine — 9 MITRE-Mapped Action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50876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T1486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17830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99232" y="14173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63824" y="150876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63824" y="17830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95544" y="14173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0136" y="150876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T1068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0136" y="17830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1856" y="14173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56448" y="150876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T1021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56448" y="178308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340864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" y="2706624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99232" y="2340864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63824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T1498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63824" y="2706624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95544" y="2340864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0136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0136" y="2706624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BruteForce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91856" y="2340864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56448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T1190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56448" y="2706624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264408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7512" y="3355848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" y="363016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/ Other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response actions (executed by the endpoint agent):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4663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isolate_host   ·   block_ip   ·   kill_process   ·   quarantine_file   ·   restore_file   ·   unblock_ip   ·   lock_account   ·   unlock_account   ·   scan_filesystem   ·   monitor_persistence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5349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Auto-execution policy: response actions auto-execute only when fused severity = CRITICAL. HIGH and below require analyst confirmation in the Incident Response modal.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System 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class, state, sequence, and entity-relationship diagrams documenting system structure.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617720" y="125245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62C66B-E38F-185F-2BB4-5767CB73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66" y="671113"/>
            <a:ext cx="9306098" cy="5652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Monitor Real-Time Multi-Domain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Continuously monitor live network, system, user, and malware telemetry from all connected endpoints in one unified SOC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SOC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Monitoring is started; endpoint agents are sending telemetry every 5 seconds; the Socket.IO connection is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opens the SOC dashboard and starts monitoring.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aggregates network, system, user, and malware telemetry from all online endpoints in real time.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watches the live alert stream and endpoint grid.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pushes fusion_alert, network_anomaly, system_anomaly, and malware_alert events via Socket.IO as they occur.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An endpoint misses its 35-second heartbeat.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marks the endpoint offline and emits an endpoint_offline event without interrupting monitoring of other hosts.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analyst has a live, continuously updating view of threat activity across every monitored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Investigate a Correlated, Multi-Domain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Investigate an alert where two or more detection domains agree on the same threat, and view the SHAP-based reasoning behind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SOC Analyst,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fusion engine is running; at least two of the four agents have independently flagged the same endpoint or session.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opens an alert flagged as a Correlated Attack (e.g. “Ransomware Activity”).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shows which sources agree (e.g. malware + system) and the combined fusion threat score.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opens the SHAP explanation panel.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displays the contributing factors per model — e.g. high packet rate, suspicious IP, anomalous process behavior.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Only one domain crosses its threshold (single-source signal).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routes it as a Standard Alert instead of a Correlated Attack, since the ≥ 2-source correlation gate was not met.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analyst understands not just that an attack was detected, but why, and which models agreed.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Execute an Automated SOAR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Contain a confirmed CRITICAL-severity threat by executing a MITRE ATT&amp;CK-mapped response plan on the affected endpoint.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Admin, SOC Analyst (limited)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Fusion alert severity is CRITICAL; a response_required event has been emitted; the user holds the admin or analyst 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opens the Response Modal and reviews the pre-checked action list (isolate_host, block_ip, kill_process, etc.).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maps the attack type to its MITRE technique and proposes executable vs. advisory actions.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clicks Execute.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endpoint agent polls /endpoint/commands, runs each action, and the system shows live per-action status (spinner → success/fail).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Severity is HIGH, not CRITICAL.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requires the analyst to manually trigger execution — auto-execution is reserved for CRITICAL severity only.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threat is contained on the endpoint, the command history is logged, and the plan status updates to CONTAINED.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Generate and Download an Incident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Produce a signed, MITRE-mapped PDF incident report for a confirmed alert, for audit and stakeholder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Admin, SOC Analyst (download), Viewer (summary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 response plan exists for the incident; the requesting user is authenticated.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requests a report from a completed response plan.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builds a 5-section ReportLab PDF — summary, timeline, SHAP table, response actions, final containment status — and saves it to /reports/{incident_id}.pdf.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downloads the report.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serves the file via GET /reports/{id}/download, role-gated by the requester's permissions.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requesting user is a Viewer.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shows the report summary on screen but restricts the download link, per RBAC.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 timestamped, downloadable incident record exists and is listed in the Incident Reports panel.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Replay and Investigate a Past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Reconstruct the full timeline of a past incident — what was detected, when, and what was done about it — for post-incident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SOC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incident has at least one fused alert, SHAP explanation, or SOAR command on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opens Attack Replay and selects an incident ID.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merges four timeline sources (endpoint_logs, fused_alerts, alerts, sysmon_alerts) into one chronological, narrated sequence.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analyst steps through the timeline and opens a node's detail panel.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shows that node's SHAP reasoning (with model-score fallback) and any response actions taken at that point.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No SHAP record exists for a given node.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falls back to displaying the contributing model scores directly, so the panel is never empty.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analyst has a complete, evidence-backed reconstruction of the incident from detection to containment.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Sign In with Two-Factor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Authenticate securely using a password plus a time-based one-time code before reaching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Admin, SOC Analyst,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user has an account with TOTP two-factor authentication enabled.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user submits email and password.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verifies the bcrypt-hashed password and, if 2FA is enabled, requests a TOTP code instead of issuing tokens immediately.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user enters the 6-digit code from their authenticator app.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verifies the TOTP, issues a JWT access + refresh token pair, and logs an audit_event for the login.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user enters 5 incorrect passwords within 15 minutes.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locks the account for 15 minutes and logs a HIGH-severity security event.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user is signed in with a role-scoped session, or is clearly told why access was denied.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Manage Users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Create, modify, or remove analyst and viewer accounts, and control what each role can see and do across the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requesting user holds the admin 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admin opens User Management and selects a user.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shows their role, MFA status, and last login from the users collection.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admin changes the user's role or forces a logout.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updates the role (or invalidates all sessions) and logs a role_changed / force_logout audit event with the admin's IP.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A non-admin attempts to reach this page directly.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blocks the route at ProtectedRoute and shows an Access Denied overlay, per RBAC enforcement.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User roles and access stay accurate, and every change is independently auditable.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Configure Detection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Tune the sensitivity of the four detection agents and the fusion engine without redeploying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requesting user holds the admin 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admin opens Settings → Detection and adjusts the network/system anomaly sliders and fusion sensitivity.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validates the new thresholds and calls POST /settings/thresholds.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admin saves the change.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persists the thresholds to MongoDB so they survive a server restart, and applies them immediately to live scoring.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An analyst (not admin) views the same page.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sliders render read-only, consistent with the RBAC rule that fusion config/thresholds are admin-edit only.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Detection behavior reflects the new thresholds platform-wide, with no restart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Recover Access After Losing an MFA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Regain account access through an admin-approved recovery flow when a user can no longer generate TOTP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Any role (requests), Admin (approves)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user has at least one prior login on record, used for automatic risk scoring.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user submits an MFA recovery request with their email and reason.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rate-limits the request (1/email/24h), creates a pending entry, and assigns a LOW/MEDIUM/HIGH risk level from known IPs and recent attempts.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admin reviews the pending queue and approves the request.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wipes the old TOTP secret, backup codes, and trusted devices, revokes all sessions, and logs a HIGH-severity security event.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user instead has unused backup codes.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accepts a backup code in place of a TOTP code during password reset, without needing admin approval.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user can re-enroll a new authenticator device and resume normal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USE CASE #10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Calibri"/>
              </a:rPr>
              <a:t>View a Read-Only Threat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Let a non-technical stakeholder see system status and alerts without exposing raw logs, SHAP internals, or response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935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PRE-CONDITIONS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21408"/>
            <a:ext cx="935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viewer account has no admin or analyst privileges.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MAIN FLOW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80944"/>
          <a:ext cx="11186159" cy="1463040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viewer opens the dashboard and the Alerts view.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shows live alerts and the threat-score gauge, identical in real time to what other roles see.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viewer opens an alert's explanation.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shows a plain-language SHAP summary (e.g. “Suspicious process behavior detected.”) instead of raw feature values or charts.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spc="150">
                <a:solidFill>
                  <a:srgbClr val="38BDF8"/>
                </a:solidFill>
                <a:latin typeface="Consolas"/>
              </a:rPr>
              <a:t>ALTERNATE 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882896"/>
          <a:ext cx="11186159" cy="896112"/>
        </p:xfrm>
        <a:graphic>
          <a:graphicData uri="http://schemas.openxmlformats.org/drawingml/2006/table">
            <a:tbl>
              <a:tblPr/>
              <a:tblGrid>
                <a:gridCol w="514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ACTOR ACTIONS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8BDF8"/>
                          </a:solidFill>
                          <a:latin typeface="Consolas"/>
                        </a:rPr>
                        <a:t>SYSTEM RESPONSE</a:t>
                      </a:r>
                    </a:p>
                  </a:txBody>
                  <a:tcPr marL="109728" marR="109728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viewer attempts to open Settings or execute a response action.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CBD5E1"/>
                          </a:solidFill>
                          <a:latin typeface="Calibri"/>
                        </a:rPr>
                        <a:t>The system hides — not just disables — those controls entirely, per the RBAC rule that inaccessible modules are never shown to viewers.</a:t>
                      </a:r>
                    </a:p>
                  </a:txBody>
                  <a:tcPr marL="109728" marR="109728" marT="36576" marB="36576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9436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8BDF8"/>
                </a:solidFill>
                <a:latin typeface="Consolas"/>
              </a:rPr>
              <a:t>POST-CONDITIONS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943600"/>
            <a:ext cx="935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BD5E1"/>
                </a:solidFill>
                <a:latin typeface="Calibri"/>
              </a:rPr>
              <a:t>The viewer stays informed about system status without being able to see sensitive detail or change anything.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8328" y="1024128"/>
            <a:ext cx="6873355" cy="5833872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188720"/>
            <a:ext cx="3456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hierarchy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detection models (SystemAnomalyModel, NetworkIDSModel, UserAnomalyModel, MalwareDetectionModel) all extend BaseMLModel.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→ FusionModel → AlertManager → Alert → Incident, mirroring the ERD relationships.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four agents are polymorphic under one ML interface — train() / predict() — which is what makes the fusion engine able to treat them uniformly.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B75614-0FC5-39C4-384C-B0082AAAE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7" y="1024128"/>
            <a:ext cx="687335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229600" y="1031029"/>
            <a:ext cx="3456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table explicitly labels its FK and target — UserRiskScores.user_id → Users.user_id, SystemMetrics.device_id → Devices.device_id, and so on.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traceability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FusionScores carries four FKs (user_pred_id, system_pred_id, network_pred_id, malware_pred_id) — one fused row always traces back to exactly the four per-agent predictions that produced it.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trail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→ IncidentAlerts → Incidents gives full audit trail from raw prediction to closed incident.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79ABA2-DEED-5F2C-291A-17086D097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78" y="1031029"/>
            <a:ext cx="717832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8189" y="1024127"/>
            <a:ext cx="6935637" cy="5760721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deck/assets/uml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59" y="1188719"/>
            <a:ext cx="6510355" cy="54449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188720"/>
            <a:ext cx="3456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→ Feature Engineering → AI Detection Models → Fusion Layer → Response, matching the live pipeline exactly.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shown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Zeek/Suricata/Snort for network capture, Sysmon/Windows Event Logs for system, pandas/scikit-learn for feature extraction, SHAP/LIME for explainability, Elasticsearch/Kibana for the response layer.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589A2-957E-9173-3E15-713BF2546498}"/>
              </a:ext>
            </a:extLst>
          </p:cNvPr>
          <p:cNvSpPr/>
          <p:nvPr/>
        </p:nvSpPr>
        <p:spPr>
          <a:xfrm>
            <a:off x="2537460" y="3429000"/>
            <a:ext cx="830580" cy="182880"/>
          </a:xfrm>
          <a:prstGeom prst="rect">
            <a:avLst/>
          </a:prstGeom>
          <a:solidFill>
            <a:srgbClr val="F1F1F1"/>
          </a:solidFill>
          <a:ln>
            <a:solidFill>
              <a:srgbClr val="F1F1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D8603-00E2-6376-1F7F-5A54040DAF0D}"/>
              </a:ext>
            </a:extLst>
          </p:cNvPr>
          <p:cNvSpPr txBox="1"/>
          <p:nvPr/>
        </p:nvSpPr>
        <p:spPr>
          <a:xfrm>
            <a:off x="2468880" y="3436620"/>
            <a:ext cx="23545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TF-IDF + </a:t>
            </a:r>
            <a:r>
              <a:rPr lang="en-US" sz="700" dirty="0" err="1"/>
              <a:t>IsolationForest</a:t>
            </a:r>
            <a:r>
              <a:rPr lang="en-US" sz="700" dirty="0"/>
              <a:t> + </a:t>
            </a:r>
            <a:r>
              <a:rPr lang="en-US" sz="700" dirty="0" err="1"/>
              <a:t>XGBoost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 — Detection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8327" y="1024128"/>
            <a:ext cx="6364397" cy="5760720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deck/assets/uml_st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86" y="1042416"/>
            <a:ext cx="4591813" cy="5742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188720"/>
            <a:ext cx="3456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states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Monitoring → ThreatDetected → AlertValidation → IncidentResponse → Recovery → Learning, with a false-positive path returning straight to Monitoring.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state explicitly updates ML models and stores threat intelligence before returning to Monitoring — the system is designed to improve from every confirmed incident.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— Full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8327" y="1024128"/>
            <a:ext cx="6416155" cy="5760720"/>
          </a:xfrm>
          <a:prstGeom prst="roundRect">
            <a:avLst>
              <a:gd name="adj" fmla="val 149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188720"/>
            <a:ext cx="3456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analysis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(User, System, Network, Malware) analyze their respective signals concurrently, shown as parallel swimlanes.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branch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fusion score computation, a single "Threat Detected?" decision diamond branches into alert generation + response, or continue-monitoring with score-buffer reset.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converge on model feedback and retrain queue update.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4F294-5CFE-7013-9252-D189EAA0E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24128"/>
            <a:ext cx="55930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Detection to Response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8328" y="1024128"/>
            <a:ext cx="7598664" cy="576072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188720"/>
            <a:ext cx="345643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Sensors, Prep, the four AI Models, Fusion, Alerts, and Response — eight lifelines covering the complete request path.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fragment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genuine branch: [Threat Detected] triggers alert + response + quarantine; [No Threat] simply continues monitoring.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signal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receives an explicit retrain call after each cycle, visualized as four parallel return messages to Fusion.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3C5F10-4FAD-19E5-4732-655A19198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9" y="1024128"/>
            <a:ext cx="743407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public datasets, one per detection domain — and why the leading alternatives were rejected for each.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MULTI-SOURCE DATASET FUSION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Datasets, One Per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28600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88920" y="1508760"/>
            <a:ext cx="237744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5087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66360" y="1508760"/>
            <a:ext cx="256032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5087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26680" y="1508760"/>
            <a:ext cx="219456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5087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921240" y="1508760"/>
            <a:ext cx="182880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1508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221992"/>
            <a:ext cx="22860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2199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88920" y="2221992"/>
            <a:ext cx="2377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22199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66360" y="2221992"/>
            <a:ext cx="25603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2219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 flow records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26680" y="2221992"/>
            <a:ext cx="219456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22199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flow-level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921240" y="2221992"/>
            <a:ext cx="18288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2219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PCAP-derived CSV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2935224"/>
            <a:ext cx="22860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3522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r4.2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88920" y="2935224"/>
            <a:ext cx="237744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293522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66360" y="2935224"/>
            <a:ext cx="256032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93522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330,452 user-days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26680" y="2935224"/>
            <a:ext cx="219456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9352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behavioral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921240" y="2935224"/>
            <a:ext cx="18288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293522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activity logs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3648456"/>
            <a:ext cx="22860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484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 call traces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88920" y="3648456"/>
            <a:ext cx="2377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6484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166360" y="3648456"/>
            <a:ext cx="25603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6484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ADFA-WD validation split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26680" y="3648456"/>
            <a:ext cx="219456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64845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n-gram (1–3)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</a:t>
            </a: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inverse doc </a:t>
            </a: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921240" y="3648456"/>
            <a:ext cx="182880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0" y="364845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.GHC binary DLL call-stack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4361688"/>
            <a:ext cx="22860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36168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2018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88920" y="4361688"/>
            <a:ext cx="237744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436168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166360" y="4361688"/>
            <a:ext cx="256032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43616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held-out test PE files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726680" y="4361688"/>
            <a:ext cx="219456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436168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280-dim custom vector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921240" y="4361688"/>
            <a:ext cx="18288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0" y="436168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header / section features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02920" y="5303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fusion across four sources instead of one unified dataset: no single public dataset captures network flow, user session behavior, process call-stacks, and binary structure simultaneously — building a 4-agent system was the only way to use real, high-quality labeled data in every domain.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DETECTION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CIC-IDS2017 Over Alternatives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6510">
            <a:solidFill>
              <a:srgbClr val="60A5F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CHOSEN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benign + 14 attack scenarios captured over 5 days with full packet payloads, generating CICFlowMeter's 76 standard flow features — directly compatible with the Gate 1 → Gate 2 pipeline design.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ALTERNATIVES CONSIDERED &amp; REJECTED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1998 DARPA traffic. Attack patterns are over 20 years stale; modern port scans and botnets look nothing like its labeled classes.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628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dataset, but feature set (49 features, Argus-derived) doesn't align with CICFlowMeter's feature space used elsewhere in network security tooling for this project.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Cup 99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known to contain duplicate records and synthetic, unrealistic attack injection — multiple published critiques recommend against its continued use.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BEHAVIOR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CERT r4.2 Over Alternatives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651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CHOSEN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r4.2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Mellon's insider-threat dataset: 330,452 user-days of real organizational activity logs with ground-truth insider-threat labels — the only widely-used public dataset built specifically for this exact problem.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ALTERNATIVES CONSIDERED &amp; REJECTED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r6.2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more recent, but introduces an email-content dimension this project's feature set doesn't use — added complexity without matching benefit for behavioral-only detection.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LANL Auth Dataset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628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Authentication-event only (no file/device/email activity), too narrow a feature set to support the 19-feature behavioral baseline used here.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insider data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published synthetic generators exist, but synthetic insider behavior doesn't reproduce the subtlety of real anomalies — defeats the purpose of validating against ground truth.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MONITOR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GHC Call-Stack Traces Over Alternatives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651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CHOSEN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 Dataset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DLL call-stack traces (.GHC binary format) across 12 labeled attack types — Backdoor, SMB/FTP/WebDAV exploits, browser/PDF exploits, Rogue AP — validated against the ADFA-WD benchmark split.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ALTERNATIVES CONSIDERED &amp; REJECTED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ADFA-LD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syscall traces only; this project's deployed agent monitors Windows endpoints via Sysmon, making the syscall vocabulary directly incompatible.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NGIDS-DS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628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network + host data in one schema, which works against this project's explicit design goal of domain separation between Network and System agents.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Sysmon logs (unlabeled)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 and realistic, but unlabeled — would have required manual attack labeling at a scale outside this project's timeline.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MALWARE ANALYSIS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EMBER 2018 Over Alternatives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6510">
            <a:solidFill>
              <a:srgbClr val="EF44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CHOSEN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2018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PE file feature vectors with benign/malicious ground truth, released by Endgame specifically for ML malware research — provides the 280-dimensional static feature vector this project's LightGBM model trains 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ALTERNATIVES CONSIDERED &amp; REJECTED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VirusShare raw binaries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raw files, not pre-extracted features — would require building an entire PE-parsing feature pipeline from scratch before any model could train.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Malware Classification (BIG 2015)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628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family classification, not binary benign/malicious — a different problem framing than this project's detection-focused design.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971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 Heaven-derived sets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3502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3813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and labeling integrity widely questioned in the ML-security literature; EMBER is the field's de facto reproducible standard.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matrices, ROC and PR curves for all four agents — including where a model underperforms, and why.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CROSS-AGENT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Agents — Performance Summary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B48876-4E4F-E6B9-9D09-BFA7B92E2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23169"/>
            <a:ext cx="10538823" cy="452043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Detection — IsolationForest → RandomForest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5" name="Image 0" descr="/home/claude/deck/assets/ne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1815"/>
            <a:ext cx="3246120" cy="23599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7" name="Image 1" descr="/home/claude/deck/assets/net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666647"/>
            <a:ext cx="3246120" cy="22902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5236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9" name="Image 2" descr="/home/claude/deck/assets/net_pr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666647"/>
            <a:ext cx="3246120" cy="229026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2920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02920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94.25%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48640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712110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712110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98.86%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2757830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921301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921301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86.05%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967021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130491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130491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176211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ROC-AUC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9339682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339682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385402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PR-AUC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02920" y="5440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17,225 benign correctly classified, 9,330 attacks caught — consistent with documented CIC-IDS2017 test split performance.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— LightGBM on EMBER 2018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5" name="Image 0" descr="/home/claude/deck/assets/ma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6274"/>
            <a:ext cx="3246120" cy="23910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7" name="Image 1" descr="/home/claude/deck/assets/mal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666647"/>
            <a:ext cx="3246120" cy="22902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5236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9" name="Image 2" descr="/home/claude/deck/assets/mal_pr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666647"/>
            <a:ext cx="3246120" cy="229026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2920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02920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93.37%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48640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712110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712110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91.46%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2757830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921301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921301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95.64%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967021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130491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130491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176211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ROC-AUC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9339682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339682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385402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PR-AUC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02920" y="5440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EMBER 2018's own held-out test split (15,000 files, real inference): 6,848 benign correct, 668 false positives, 326 false negatives, 7,158 malicious files caught.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 — LSTM Autoencoder + DETECTOR1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5" name="Image 0" descr="/home/claude/deck/assets/sys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6274"/>
            <a:ext cx="3246120" cy="23910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7" name="Image 1" descr="/home/claude/deck/assets/sys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666647"/>
            <a:ext cx="3246120" cy="22902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52360" y="1417320"/>
            <a:ext cx="3246120" cy="278892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9" name="Image 2" descr="/home/claude/deck/assets/sys_pr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666647"/>
            <a:ext cx="3246120" cy="229026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2920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02920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48640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712110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712110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2757830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921301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921301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967021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130491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130491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7176211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ROC-AUC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9339682" y="4434840"/>
            <a:ext cx="2044598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339682" y="4498848"/>
            <a:ext cx="204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385402" y="4956048"/>
            <a:ext cx="19531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PR-AUC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02920" y="5440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ADFA-WD's real validation split, which is artificially 99% attack / 1% background, and two attack types in it were never in DETECTOR1's training label set — this explains the ROC-AUC vs. PR-AUC gap; it is not a wiring defect.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— IsolationForest on CERT r4.2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66344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1463040"/>
            <a:ext cx="466344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4937760"/>
            <a:ext cx="2459736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49926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53766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ROC-AUC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401568" y="4937760"/>
            <a:ext cx="2459736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401568" y="49926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47288" y="53766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PR-AUC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25896" y="4937760"/>
            <a:ext cx="2459736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025896" y="49926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330,452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071616" y="53766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USER-DAYS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8650224" y="4937760"/>
            <a:ext cx="2459736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650224" y="49926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~0.4%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695944" y="53766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INSIDER-THREAT RATE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77240" y="57607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1760CE-E795-0E1E-7700-82F80C8E3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4663440" cy="34655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E3C903-E8AE-7D99-10C9-DC9B9285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192" y="1289305"/>
            <a:ext cx="5055080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 cases drafted from real audit findings — including bugs found and fixed during development.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SM-001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 — ADFA-WD Label Mapping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the ADFA-WD validation folder's per-file labels are read correctly rather than treating the entire folder as one class.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47802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478024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ADFA-WD validation split, loaded via the original folder-level labeling logic that tagged every file as 'Background' regardless of filename-encoded label.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RESULT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3447288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should reflect genuine model ranking ability above 0.70, consistent with DETECTOR1's documented training performance.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416552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RESULT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4416552"/>
            <a:ext cx="88239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logic produced an inverted ROC-AUC because validation files were mislabeled at the folder level instead of per-file. Root cause identified: filenames encode true per-class labels that were being discarded. Fix applied — ROC-AUC corrected to the documented 0.7344 once per-file labels were restored.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90702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5907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FIXED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UB-002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— Model Identity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algorithm documented for user_model.pkl in the project's own documentation matches the algorithm actually serialized in the file.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47802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478024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unpickling of User Behavior/final_model_backend_only/user_model.pkl, cross-referenced against five separate documentation references describing it as One-Class SVM or XGBoost.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RESULT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3447288"/>
            <a:ext cx="8823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the actual model object should agree on algorithm identity.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1788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RESULT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4178808"/>
            <a:ext cx="8823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found: the unpickled object is an IsolationForest (contamination=0.001, n_features_in_=19), not an SVM or XGBoost model as stated in five places in the project documentation. Documentation corrected to reflect verified IsolationForest identity.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43153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5431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FIXED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UB-003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— Decision Threshold Calibration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the 0.0 Precision/Recall/F1 observed at the deployed threshold indicates the model lacks signal or a calibration issue.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47802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478024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 CERT r4.2 feature table (330,452 user-days, real inference) scored at the deployed 0.80 decision threshold.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RESULT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3447288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ROC-AUC (threshold-independent) is meaningfully above 0.50, the model carries genuine ranking signal even if Precision/Recall read near zero at one specific threshold.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416552"/>
            <a:ext cx="1828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RESULT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4416552"/>
            <a:ext cx="88239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0.8302, confirming real ranking signal. Precision/Recall/F1 = 0.00 at the original threshold of 0.80 traced to insider-threat days being only ~0.4% of the dataset — a severe class-imbalance / threshold-calibration issue, not a model failure. Update: the threshold has since been lowered to 0.50 and a sigmoid sign-inversion bug fixed, restoring non-zero precision and recall in the deployed model.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90702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5907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(signal confirmed)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EVAL-004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Pipeline — Pandas 3.0 Compatibility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468880" y="1508760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evaluation pipeline's groupby().apply() calls still pass the grouping column through to the aggregation function exactly as the feature-engineering code expects.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47802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478024"/>
            <a:ext cx="8823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run of evaluate_all_models.py against the project's real model artifacts under the environment's installed pandas version.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RESULT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3447288"/>
            <a:ext cx="8823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per-group features should be indexed identically to what the production feature schema expects, with no silent column shift.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17880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RESULT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4178808"/>
            <a:ext cx="8823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3.0 changed groupby().apply() to exclude the grouping column from what the function receives, silently shifting feature alignment during evaluation. Root cause identified by direct version check; pipeline pinned and patched to handle the new behavior explicitly.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43153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54315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FIXED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A0A8CEAF-9FC4-455E-6A73-765E651FFC16}"/>
              </a:ext>
            </a:extLst>
          </p:cNvPr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REQUIREMENTS</a:t>
            </a:r>
            <a:endParaRPr lang="en-US" sz="1250" dirty="0"/>
          </a:p>
        </p:txBody>
      </p:sp>
      <p:sp>
        <p:nvSpPr>
          <p:cNvPr id="3" name="MainTitle">
            <a:extLst>
              <a:ext uri="{FF2B5EF4-FFF2-40B4-BE49-F238E27FC236}">
                <a16:creationId xmlns:a16="http://schemas.microsoft.com/office/drawing/2014/main" id="{AFA8B32A-B38E-6095-C6BE-83C808E73295}"/>
              </a:ext>
            </a:extLst>
          </p:cNvPr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4" name="Bg1">
            <a:extLst>
              <a:ext uri="{FF2B5EF4-FFF2-40B4-BE49-F238E27FC236}">
                <a16:creationId xmlns:a16="http://schemas.microsoft.com/office/drawing/2014/main" id="{5141036E-812C-E3CE-B597-656F3F3FF46E}"/>
              </a:ext>
            </a:extLst>
          </p:cNvPr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Dot1">
            <a:extLst>
              <a:ext uri="{FF2B5EF4-FFF2-40B4-BE49-F238E27FC236}">
                <a16:creationId xmlns:a16="http://schemas.microsoft.com/office/drawing/2014/main" id="{17BAD28B-AECD-80A0-C0CD-9F54DC8E426B}"/>
              </a:ext>
            </a:extLst>
          </p:cNvPr>
          <p:cNvSpPr/>
          <p:nvPr/>
        </p:nvSpPr>
        <p:spPr>
          <a:xfrm>
            <a:off x="704088" y="1709928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5266CA92-C1E6-8442-87F4-52461E82A5DD}"/>
              </a:ext>
            </a:extLst>
          </p:cNvPr>
          <p:cNvSpPr/>
          <p:nvPr/>
        </p:nvSpPr>
        <p:spPr>
          <a:xfrm>
            <a:off x="886968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Detection</a:t>
            </a:r>
            <a:endParaRPr lang="en-US" sz="1350" dirty="0"/>
          </a:p>
        </p:txBody>
      </p:sp>
      <p:sp>
        <p:nvSpPr>
          <p:cNvPr id="7" name="D1">
            <a:extLst>
              <a:ext uri="{FF2B5EF4-FFF2-40B4-BE49-F238E27FC236}">
                <a16:creationId xmlns:a16="http://schemas.microsoft.com/office/drawing/2014/main" id="{70E140AD-6EE3-4678-1817-AC9D52E55D85}"/>
              </a:ext>
            </a:extLst>
          </p:cNvPr>
          <p:cNvSpPr/>
          <p:nvPr/>
        </p:nvSpPr>
        <p:spPr>
          <a:xfrm>
            <a:off x="704088" y="2130552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ML agents (Network, User Behavior, System, Malware) run concurrently on every telemetry tick.</a:t>
            </a:r>
            <a:endParaRPr lang="en-US" sz="1050" dirty="0"/>
          </a:p>
        </p:txBody>
      </p:sp>
      <p:sp>
        <p:nvSpPr>
          <p:cNvPr id="8" name="Bg2">
            <a:extLst>
              <a:ext uri="{FF2B5EF4-FFF2-40B4-BE49-F238E27FC236}">
                <a16:creationId xmlns:a16="http://schemas.microsoft.com/office/drawing/2014/main" id="{C9ECF121-E1ED-AAD8-2B5E-1147B51C3D7E}"/>
              </a:ext>
            </a:extLst>
          </p:cNvPr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Dot2">
            <a:extLst>
              <a:ext uri="{FF2B5EF4-FFF2-40B4-BE49-F238E27FC236}">
                <a16:creationId xmlns:a16="http://schemas.microsoft.com/office/drawing/2014/main" id="{1BA2B878-429A-3C36-EA90-24B225B5028F}"/>
              </a:ext>
            </a:extLst>
          </p:cNvPr>
          <p:cNvSpPr/>
          <p:nvPr/>
        </p:nvSpPr>
        <p:spPr>
          <a:xfrm>
            <a:off x="4498848" y="1709928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2">
            <a:extLst>
              <a:ext uri="{FF2B5EF4-FFF2-40B4-BE49-F238E27FC236}">
                <a16:creationId xmlns:a16="http://schemas.microsoft.com/office/drawing/2014/main" id="{F342A854-0DE4-A5F3-47F6-06DEE102B18F}"/>
              </a:ext>
            </a:extLst>
          </p:cNvPr>
          <p:cNvSpPr/>
          <p:nvPr/>
        </p:nvSpPr>
        <p:spPr>
          <a:xfrm>
            <a:off x="4681728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Ingestion</a:t>
            </a:r>
            <a:endParaRPr lang="en-US" sz="1350" dirty="0"/>
          </a:p>
        </p:txBody>
      </p:sp>
      <p:sp>
        <p:nvSpPr>
          <p:cNvPr id="11" name="D2">
            <a:extLst>
              <a:ext uri="{FF2B5EF4-FFF2-40B4-BE49-F238E27FC236}">
                <a16:creationId xmlns:a16="http://schemas.microsoft.com/office/drawing/2014/main" id="{AE3F95B8-9F72-461A-BB92-CA16DB6B4CC0}"/>
              </a:ext>
            </a:extLst>
          </p:cNvPr>
          <p:cNvSpPr/>
          <p:nvPr/>
        </p:nvSpPr>
        <p:spPr>
          <a:xfrm>
            <a:off x="4498848" y="2130552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agents POST telemetry every 5 seconds via FastAPI; Socket.IO streams live alerts directly to the SOC dashboard.</a:t>
            </a:r>
            <a:endParaRPr lang="en-US" sz="1050" dirty="0"/>
          </a:p>
        </p:txBody>
      </p:sp>
      <p:sp>
        <p:nvSpPr>
          <p:cNvPr id="12" name="Bg3">
            <a:extLst>
              <a:ext uri="{FF2B5EF4-FFF2-40B4-BE49-F238E27FC236}">
                <a16:creationId xmlns:a16="http://schemas.microsoft.com/office/drawing/2014/main" id="{6757B275-8C02-650E-14B4-8FE34B4FA901}"/>
              </a:ext>
            </a:extLst>
          </p:cNvPr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Dot3">
            <a:extLst>
              <a:ext uri="{FF2B5EF4-FFF2-40B4-BE49-F238E27FC236}">
                <a16:creationId xmlns:a16="http://schemas.microsoft.com/office/drawing/2014/main" id="{F4182571-0AA4-97AF-9BED-757D7CB6FF9A}"/>
              </a:ext>
            </a:extLst>
          </p:cNvPr>
          <p:cNvSpPr/>
          <p:nvPr/>
        </p:nvSpPr>
        <p:spPr>
          <a:xfrm>
            <a:off x="8293608" y="1709928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3">
            <a:extLst>
              <a:ext uri="{FF2B5EF4-FFF2-40B4-BE49-F238E27FC236}">
                <a16:creationId xmlns:a16="http://schemas.microsoft.com/office/drawing/2014/main" id="{19BB1A72-BC3A-E172-C796-7274022FC3BE}"/>
              </a:ext>
            </a:extLst>
          </p:cNvPr>
          <p:cNvSpPr/>
          <p:nvPr/>
        </p:nvSpPr>
        <p:spPr>
          <a:xfrm>
            <a:off x="8476488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Fusion-Based Threat Scoring</a:t>
            </a:r>
            <a:endParaRPr lang="en-US" sz="1350" dirty="0"/>
          </a:p>
        </p:txBody>
      </p:sp>
      <p:sp>
        <p:nvSpPr>
          <p:cNvPr id="15" name="D3">
            <a:extLst>
              <a:ext uri="{FF2B5EF4-FFF2-40B4-BE49-F238E27FC236}">
                <a16:creationId xmlns:a16="http://schemas.microsoft.com/office/drawing/2014/main" id="{10223F8D-1FB2-5DE8-2A14-7310E1D84430}"/>
              </a:ext>
            </a:extLst>
          </p:cNvPr>
          <p:cNvSpPr/>
          <p:nvPr/>
        </p:nvSpPr>
        <p:spPr>
          <a:xfrm>
            <a:off x="8293608" y="2130552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(w1·N + w2·U + w3·S + w4·M) produces a single LOW / MEDIUM / HIGH / CRITICAL severity per event.</a:t>
            </a:r>
            <a:endParaRPr lang="en-US" sz="1050" dirty="0"/>
          </a:p>
        </p:txBody>
      </p:sp>
      <p:sp>
        <p:nvSpPr>
          <p:cNvPr id="16" name="Bg4">
            <a:extLst>
              <a:ext uri="{FF2B5EF4-FFF2-40B4-BE49-F238E27FC236}">
                <a16:creationId xmlns:a16="http://schemas.microsoft.com/office/drawing/2014/main" id="{C3D61E3A-A79F-83D3-FF75-3067A20A145D}"/>
              </a:ext>
            </a:extLst>
          </p:cNvPr>
          <p:cNvSpPr/>
          <p:nvPr/>
        </p:nvSpPr>
        <p:spPr>
          <a:xfrm>
            <a:off x="50292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Dot4">
            <a:extLst>
              <a:ext uri="{FF2B5EF4-FFF2-40B4-BE49-F238E27FC236}">
                <a16:creationId xmlns:a16="http://schemas.microsoft.com/office/drawing/2014/main" id="{579B39B5-7336-A075-D269-EBEDDC7217DD}"/>
              </a:ext>
            </a:extLst>
          </p:cNvPr>
          <p:cNvSpPr/>
          <p:nvPr/>
        </p:nvSpPr>
        <p:spPr>
          <a:xfrm>
            <a:off x="704088" y="3328416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4">
            <a:extLst>
              <a:ext uri="{FF2B5EF4-FFF2-40B4-BE49-F238E27FC236}">
                <a16:creationId xmlns:a16="http://schemas.microsoft.com/office/drawing/2014/main" id="{8464180F-3CD6-AFDC-CB11-A5D4C2AC3515}"/>
              </a:ext>
            </a:extLst>
          </p:cNvPr>
          <p:cNvSpPr/>
          <p:nvPr/>
        </p:nvSpPr>
        <p:spPr>
          <a:xfrm>
            <a:off x="886968" y="32644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SOAR Response</a:t>
            </a:r>
            <a:endParaRPr lang="en-US" sz="1350" dirty="0"/>
          </a:p>
        </p:txBody>
      </p:sp>
      <p:sp>
        <p:nvSpPr>
          <p:cNvPr id="19" name="D4">
            <a:extLst>
              <a:ext uri="{FF2B5EF4-FFF2-40B4-BE49-F238E27FC236}">
                <a16:creationId xmlns:a16="http://schemas.microsoft.com/office/drawing/2014/main" id="{9664A5B9-3EEF-1037-BF9E-B02175F10F78}"/>
              </a:ext>
            </a:extLst>
          </p:cNvPr>
          <p:cNvSpPr/>
          <p:nvPr/>
        </p:nvSpPr>
        <p:spPr>
          <a:xfrm>
            <a:off x="704088" y="3749040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MITRE ATT&amp;CK-mapped actions — isolate_host, block_ip, kill_process, quarantine_file — auto-execute on CRITICAL alerts.</a:t>
            </a:r>
            <a:endParaRPr lang="en-US" sz="1050" dirty="0"/>
          </a:p>
        </p:txBody>
      </p:sp>
      <p:sp>
        <p:nvSpPr>
          <p:cNvPr id="20" name="Bg5">
            <a:extLst>
              <a:ext uri="{FF2B5EF4-FFF2-40B4-BE49-F238E27FC236}">
                <a16:creationId xmlns:a16="http://schemas.microsoft.com/office/drawing/2014/main" id="{E3BE3B8E-51AC-0398-1DCE-4171505B244D}"/>
              </a:ext>
            </a:extLst>
          </p:cNvPr>
          <p:cNvSpPr/>
          <p:nvPr/>
        </p:nvSpPr>
        <p:spPr>
          <a:xfrm>
            <a:off x="429768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Dot5">
            <a:extLst>
              <a:ext uri="{FF2B5EF4-FFF2-40B4-BE49-F238E27FC236}">
                <a16:creationId xmlns:a16="http://schemas.microsoft.com/office/drawing/2014/main" id="{22FFC966-5CA4-CF36-C531-F0F172A336F0}"/>
              </a:ext>
            </a:extLst>
          </p:cNvPr>
          <p:cNvSpPr/>
          <p:nvPr/>
        </p:nvSpPr>
        <p:spPr>
          <a:xfrm>
            <a:off x="4498848" y="3328416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5">
            <a:extLst>
              <a:ext uri="{FF2B5EF4-FFF2-40B4-BE49-F238E27FC236}">
                <a16:creationId xmlns:a16="http://schemas.microsoft.com/office/drawing/2014/main" id="{42C72388-3AF3-E990-9B27-55A1A7C7AF77}"/>
              </a:ext>
            </a:extLst>
          </p:cNvPr>
          <p:cNvSpPr/>
          <p:nvPr/>
        </p:nvSpPr>
        <p:spPr>
          <a:xfrm>
            <a:off x="4681728" y="32644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50" dirty="0"/>
          </a:p>
        </p:txBody>
      </p:sp>
      <p:sp>
        <p:nvSpPr>
          <p:cNvPr id="23" name="D5">
            <a:extLst>
              <a:ext uri="{FF2B5EF4-FFF2-40B4-BE49-F238E27FC236}">
                <a16:creationId xmlns:a16="http://schemas.microsoft.com/office/drawing/2014/main" id="{71EC23FC-04F0-4F71-1606-9C8451B74014}"/>
              </a:ext>
            </a:extLst>
          </p:cNvPr>
          <p:cNvSpPr/>
          <p:nvPr/>
        </p:nvSpPr>
        <p:spPr>
          <a:xfrm>
            <a:off x="4498848" y="3749040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 and CRITICAL alert carries a human-readable reason with per-domain contribution percentages via SHAP values.</a:t>
            </a:r>
            <a:endParaRPr lang="en-US" sz="1050" dirty="0"/>
          </a:p>
        </p:txBody>
      </p:sp>
      <p:sp>
        <p:nvSpPr>
          <p:cNvPr id="24" name="Bg6">
            <a:extLst>
              <a:ext uri="{FF2B5EF4-FFF2-40B4-BE49-F238E27FC236}">
                <a16:creationId xmlns:a16="http://schemas.microsoft.com/office/drawing/2014/main" id="{97119586-5A22-A8FA-A298-FA676D4481DB}"/>
              </a:ext>
            </a:extLst>
          </p:cNvPr>
          <p:cNvSpPr/>
          <p:nvPr/>
        </p:nvSpPr>
        <p:spPr>
          <a:xfrm>
            <a:off x="809244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Dot6">
            <a:extLst>
              <a:ext uri="{FF2B5EF4-FFF2-40B4-BE49-F238E27FC236}">
                <a16:creationId xmlns:a16="http://schemas.microsoft.com/office/drawing/2014/main" id="{336972C2-F9D6-9AB3-96DA-46A28F16A067}"/>
              </a:ext>
            </a:extLst>
          </p:cNvPr>
          <p:cNvSpPr/>
          <p:nvPr/>
        </p:nvSpPr>
        <p:spPr>
          <a:xfrm>
            <a:off x="8293608" y="3328416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6">
            <a:extLst>
              <a:ext uri="{FF2B5EF4-FFF2-40B4-BE49-F238E27FC236}">
                <a16:creationId xmlns:a16="http://schemas.microsoft.com/office/drawing/2014/main" id="{7244F3CF-2C54-35B7-5EFA-23AD3C1CC3E8}"/>
              </a:ext>
            </a:extLst>
          </p:cNvPr>
          <p:cNvSpPr/>
          <p:nvPr/>
        </p:nvSpPr>
        <p:spPr>
          <a:xfrm>
            <a:off x="8476488" y="32644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Generation</a:t>
            </a:r>
            <a:endParaRPr lang="en-US" sz="1350" dirty="0"/>
          </a:p>
        </p:txBody>
      </p:sp>
      <p:sp>
        <p:nvSpPr>
          <p:cNvPr id="27" name="D6">
            <a:extLst>
              <a:ext uri="{FF2B5EF4-FFF2-40B4-BE49-F238E27FC236}">
                <a16:creationId xmlns:a16="http://schemas.microsoft.com/office/drawing/2014/main" id="{E398B6C2-F99E-BFFC-F236-6A5BDD30E624}"/>
              </a:ext>
            </a:extLst>
          </p:cNvPr>
          <p:cNvSpPr/>
          <p:nvPr/>
        </p:nvSpPr>
        <p:spPr>
          <a:xfrm>
            <a:off x="8293608" y="3749040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downloadable PDF reports with MITRE mapping, attack summary, and containment status are auto-generated per incident.</a:t>
            </a:r>
            <a:endParaRPr lang="en-US" sz="1050" dirty="0"/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8509B0A3-630E-C737-C66B-5A20BEBFD828}"/>
              </a:ext>
            </a:extLst>
          </p:cNvPr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603130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">
            <a:extLst>
              <a:ext uri="{FF2B5EF4-FFF2-40B4-BE49-F238E27FC236}">
                <a16:creationId xmlns:a16="http://schemas.microsoft.com/office/drawing/2014/main" id="{C0D82FC0-CB0D-8023-D029-429C7A68FEEE}"/>
              </a:ext>
            </a:extLst>
          </p:cNvPr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REQUIREMENTS</a:t>
            </a:r>
            <a:endParaRPr lang="en-US" sz="1250" dirty="0"/>
          </a:p>
        </p:txBody>
      </p:sp>
      <p:sp>
        <p:nvSpPr>
          <p:cNvPr id="30" name="MainTitle">
            <a:extLst>
              <a:ext uri="{FF2B5EF4-FFF2-40B4-BE49-F238E27FC236}">
                <a16:creationId xmlns:a16="http://schemas.microsoft.com/office/drawing/2014/main" id="{948F9A26-7414-A5D9-21A3-680D4B6EA3F0}"/>
              </a:ext>
            </a:extLst>
          </p:cNvPr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31" name="Bg1">
            <a:extLst>
              <a:ext uri="{FF2B5EF4-FFF2-40B4-BE49-F238E27FC236}">
                <a16:creationId xmlns:a16="http://schemas.microsoft.com/office/drawing/2014/main" id="{4368EF12-CFB2-8CA7-B661-7344E5BFF0D2}"/>
              </a:ext>
            </a:extLst>
          </p:cNvPr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Dot1">
            <a:extLst>
              <a:ext uri="{FF2B5EF4-FFF2-40B4-BE49-F238E27FC236}">
                <a16:creationId xmlns:a16="http://schemas.microsoft.com/office/drawing/2014/main" id="{20CB11F6-7651-09E0-7A24-4C0A65ADA69C}"/>
              </a:ext>
            </a:extLst>
          </p:cNvPr>
          <p:cNvSpPr/>
          <p:nvPr/>
        </p:nvSpPr>
        <p:spPr>
          <a:xfrm>
            <a:off x="704088" y="170992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1">
            <a:extLst>
              <a:ext uri="{FF2B5EF4-FFF2-40B4-BE49-F238E27FC236}">
                <a16:creationId xmlns:a16="http://schemas.microsoft.com/office/drawing/2014/main" id="{70373136-20D3-11C2-EF53-4384EAE5D09D}"/>
              </a:ext>
            </a:extLst>
          </p:cNvPr>
          <p:cNvSpPr/>
          <p:nvPr/>
        </p:nvSpPr>
        <p:spPr>
          <a:xfrm>
            <a:off x="886968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34" name="D1">
            <a:extLst>
              <a:ext uri="{FF2B5EF4-FFF2-40B4-BE49-F238E27FC236}">
                <a16:creationId xmlns:a16="http://schemas.microsoft.com/office/drawing/2014/main" id="{9D1B8D84-A715-6D27-6153-F825FD8D3B5A}"/>
              </a:ext>
            </a:extLst>
          </p:cNvPr>
          <p:cNvSpPr/>
          <p:nvPr/>
        </p:nvSpPr>
        <p:spPr>
          <a:xfrm>
            <a:off x="704088" y="2130552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ingested and scored within one 5-second tick; threat decision available to the dashboard in under 3 seconds.</a:t>
            </a:r>
            <a:endParaRPr lang="en-US" sz="1050" dirty="0"/>
          </a:p>
        </p:txBody>
      </p:sp>
      <p:sp>
        <p:nvSpPr>
          <p:cNvPr id="35" name="Bg2">
            <a:extLst>
              <a:ext uri="{FF2B5EF4-FFF2-40B4-BE49-F238E27FC236}">
                <a16:creationId xmlns:a16="http://schemas.microsoft.com/office/drawing/2014/main" id="{D5663451-7928-6568-E2FC-07985FC8C31E}"/>
              </a:ext>
            </a:extLst>
          </p:cNvPr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Dot2">
            <a:extLst>
              <a:ext uri="{FF2B5EF4-FFF2-40B4-BE49-F238E27FC236}">
                <a16:creationId xmlns:a16="http://schemas.microsoft.com/office/drawing/2014/main" id="{85A61440-04BF-7D52-D228-ECF6D30AC2B8}"/>
              </a:ext>
            </a:extLst>
          </p:cNvPr>
          <p:cNvSpPr/>
          <p:nvPr/>
        </p:nvSpPr>
        <p:spPr>
          <a:xfrm>
            <a:off x="4498848" y="170992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2">
            <a:extLst>
              <a:ext uri="{FF2B5EF4-FFF2-40B4-BE49-F238E27FC236}">
                <a16:creationId xmlns:a16="http://schemas.microsoft.com/office/drawing/2014/main" id="{F29040C3-78AA-5BB2-F5AD-53C2649960F8}"/>
              </a:ext>
            </a:extLst>
          </p:cNvPr>
          <p:cNvSpPr/>
          <p:nvPr/>
        </p:nvSpPr>
        <p:spPr>
          <a:xfrm>
            <a:off x="4681728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8" name="D2">
            <a:extLst>
              <a:ext uri="{FF2B5EF4-FFF2-40B4-BE49-F238E27FC236}">
                <a16:creationId xmlns:a16="http://schemas.microsoft.com/office/drawing/2014/main" id="{B77F26AD-3898-E2D6-314F-3F577CCC0E00}"/>
              </a:ext>
            </a:extLst>
          </p:cNvPr>
          <p:cNvSpPr/>
          <p:nvPr/>
        </p:nvSpPr>
        <p:spPr>
          <a:xfrm>
            <a:off x="4498848" y="2130552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up to 500 concurrent endpoints per MongoDB Atlas deployment without code changes.</a:t>
            </a:r>
            <a:endParaRPr lang="en-US" sz="1050" dirty="0"/>
          </a:p>
        </p:txBody>
      </p:sp>
      <p:sp>
        <p:nvSpPr>
          <p:cNvPr id="39" name="Bg3">
            <a:extLst>
              <a:ext uri="{FF2B5EF4-FFF2-40B4-BE49-F238E27FC236}">
                <a16:creationId xmlns:a16="http://schemas.microsoft.com/office/drawing/2014/main" id="{1A648A9D-9807-B91A-9C3F-D3A14DB5E88C}"/>
              </a:ext>
            </a:extLst>
          </p:cNvPr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Dot3">
            <a:extLst>
              <a:ext uri="{FF2B5EF4-FFF2-40B4-BE49-F238E27FC236}">
                <a16:creationId xmlns:a16="http://schemas.microsoft.com/office/drawing/2014/main" id="{A1A74B99-B318-DFC5-69E3-53E0C8E34EB0}"/>
              </a:ext>
            </a:extLst>
          </p:cNvPr>
          <p:cNvSpPr/>
          <p:nvPr/>
        </p:nvSpPr>
        <p:spPr>
          <a:xfrm>
            <a:off x="8293608" y="170992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3">
            <a:extLst>
              <a:ext uri="{FF2B5EF4-FFF2-40B4-BE49-F238E27FC236}">
                <a16:creationId xmlns:a16="http://schemas.microsoft.com/office/drawing/2014/main" id="{4F4BAA9C-720F-2B93-6241-EFB3FF9BE10F}"/>
              </a:ext>
            </a:extLst>
          </p:cNvPr>
          <p:cNvSpPr/>
          <p:nvPr/>
        </p:nvSpPr>
        <p:spPr>
          <a:xfrm>
            <a:off x="8476488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42" name="D3">
            <a:extLst>
              <a:ext uri="{FF2B5EF4-FFF2-40B4-BE49-F238E27FC236}">
                <a16:creationId xmlns:a16="http://schemas.microsoft.com/office/drawing/2014/main" id="{38CE1D46-56BB-4FBC-616C-4382791C8C6F}"/>
              </a:ext>
            </a:extLst>
          </p:cNvPr>
          <p:cNvSpPr/>
          <p:nvPr/>
        </p:nvSpPr>
        <p:spPr>
          <a:xfrm>
            <a:off x="8293608" y="2130552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transport, JWT tokens, bcrypt-12 password hashing, TOTP MFA, and Zero Trust posture enforced on all access paths.</a:t>
            </a:r>
            <a:endParaRPr lang="en-US" sz="1050" dirty="0"/>
          </a:p>
        </p:txBody>
      </p:sp>
      <p:sp>
        <p:nvSpPr>
          <p:cNvPr id="43" name="Bg4">
            <a:extLst>
              <a:ext uri="{FF2B5EF4-FFF2-40B4-BE49-F238E27FC236}">
                <a16:creationId xmlns:a16="http://schemas.microsoft.com/office/drawing/2014/main" id="{73334596-915A-812A-CBB4-EE59EB826F72}"/>
              </a:ext>
            </a:extLst>
          </p:cNvPr>
          <p:cNvSpPr/>
          <p:nvPr/>
        </p:nvSpPr>
        <p:spPr>
          <a:xfrm>
            <a:off x="50292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4" name="Dot4">
            <a:extLst>
              <a:ext uri="{FF2B5EF4-FFF2-40B4-BE49-F238E27FC236}">
                <a16:creationId xmlns:a16="http://schemas.microsoft.com/office/drawing/2014/main" id="{42945F14-DD6A-7182-08F3-90037DD16D6D}"/>
              </a:ext>
            </a:extLst>
          </p:cNvPr>
          <p:cNvSpPr/>
          <p:nvPr/>
        </p:nvSpPr>
        <p:spPr>
          <a:xfrm>
            <a:off x="704088" y="332841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4">
            <a:extLst>
              <a:ext uri="{FF2B5EF4-FFF2-40B4-BE49-F238E27FC236}">
                <a16:creationId xmlns:a16="http://schemas.microsoft.com/office/drawing/2014/main" id="{022515AB-930B-D05A-7E2F-5B9F28BC4C4D}"/>
              </a:ext>
            </a:extLst>
          </p:cNvPr>
          <p:cNvSpPr/>
          <p:nvPr/>
        </p:nvSpPr>
        <p:spPr>
          <a:xfrm>
            <a:off x="886968" y="32644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46" name="D4">
            <a:extLst>
              <a:ext uri="{FF2B5EF4-FFF2-40B4-BE49-F238E27FC236}">
                <a16:creationId xmlns:a16="http://schemas.microsoft.com/office/drawing/2014/main" id="{33B2143E-A2BC-D38F-4398-1CCDC2E78D9C}"/>
              </a:ext>
            </a:extLst>
          </p:cNvPr>
          <p:cNvSpPr/>
          <p:nvPr/>
        </p:nvSpPr>
        <p:spPr>
          <a:xfrm>
            <a:off x="704088" y="3749040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and endpoint reconnection logic maintain continuity; endpoints re-queue locally on temporary server loss.</a:t>
            </a:r>
            <a:endParaRPr lang="en-US" sz="1050" dirty="0"/>
          </a:p>
        </p:txBody>
      </p:sp>
      <p:sp>
        <p:nvSpPr>
          <p:cNvPr id="47" name="Bg5">
            <a:extLst>
              <a:ext uri="{FF2B5EF4-FFF2-40B4-BE49-F238E27FC236}">
                <a16:creationId xmlns:a16="http://schemas.microsoft.com/office/drawing/2014/main" id="{E40C1FD9-3077-DC20-4580-D49FCFBDF745}"/>
              </a:ext>
            </a:extLst>
          </p:cNvPr>
          <p:cNvSpPr/>
          <p:nvPr/>
        </p:nvSpPr>
        <p:spPr>
          <a:xfrm>
            <a:off x="429768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8" name="Dot5">
            <a:extLst>
              <a:ext uri="{FF2B5EF4-FFF2-40B4-BE49-F238E27FC236}">
                <a16:creationId xmlns:a16="http://schemas.microsoft.com/office/drawing/2014/main" id="{661E5F27-3BB4-807F-F1DC-7482943116C2}"/>
              </a:ext>
            </a:extLst>
          </p:cNvPr>
          <p:cNvSpPr/>
          <p:nvPr/>
        </p:nvSpPr>
        <p:spPr>
          <a:xfrm>
            <a:off x="4498848" y="332841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5">
            <a:extLst>
              <a:ext uri="{FF2B5EF4-FFF2-40B4-BE49-F238E27FC236}">
                <a16:creationId xmlns:a16="http://schemas.microsoft.com/office/drawing/2014/main" id="{9D5E25DC-BD2E-40C3-934B-064143CA9021}"/>
              </a:ext>
            </a:extLst>
          </p:cNvPr>
          <p:cNvSpPr/>
          <p:nvPr/>
        </p:nvSpPr>
        <p:spPr>
          <a:xfrm>
            <a:off x="4681728" y="32644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50" name="D5">
            <a:extLst>
              <a:ext uri="{FF2B5EF4-FFF2-40B4-BE49-F238E27FC236}">
                <a16:creationId xmlns:a16="http://schemas.microsoft.com/office/drawing/2014/main" id="{9C2CAC1D-0182-E4CC-F821-DC19285D5719}"/>
              </a:ext>
            </a:extLst>
          </p:cNvPr>
          <p:cNvSpPr/>
          <p:nvPr/>
        </p:nvSpPr>
        <p:spPr>
          <a:xfrm>
            <a:off x="4498848" y="3749040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microservice design, FastAPI auto-generated OpenAPI docs, and full Git version history across all components.</a:t>
            </a:r>
            <a:endParaRPr lang="en-US" sz="1050" dirty="0"/>
          </a:p>
        </p:txBody>
      </p:sp>
      <p:sp>
        <p:nvSpPr>
          <p:cNvPr id="51" name="Bg6">
            <a:extLst>
              <a:ext uri="{FF2B5EF4-FFF2-40B4-BE49-F238E27FC236}">
                <a16:creationId xmlns:a16="http://schemas.microsoft.com/office/drawing/2014/main" id="{AEC72B14-ED9C-59B9-39A5-D60FA9885290}"/>
              </a:ext>
            </a:extLst>
          </p:cNvPr>
          <p:cNvSpPr/>
          <p:nvPr/>
        </p:nvSpPr>
        <p:spPr>
          <a:xfrm>
            <a:off x="809244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2" name="Dot6">
            <a:extLst>
              <a:ext uri="{FF2B5EF4-FFF2-40B4-BE49-F238E27FC236}">
                <a16:creationId xmlns:a16="http://schemas.microsoft.com/office/drawing/2014/main" id="{04D2F4B8-CC16-36BD-F04C-C27B5B909796}"/>
              </a:ext>
            </a:extLst>
          </p:cNvPr>
          <p:cNvSpPr/>
          <p:nvPr/>
        </p:nvSpPr>
        <p:spPr>
          <a:xfrm>
            <a:off x="8293608" y="332841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6">
            <a:extLst>
              <a:ext uri="{FF2B5EF4-FFF2-40B4-BE49-F238E27FC236}">
                <a16:creationId xmlns:a16="http://schemas.microsoft.com/office/drawing/2014/main" id="{9284EF5D-9AD2-6096-4545-1C2B53CE5455}"/>
              </a:ext>
            </a:extLst>
          </p:cNvPr>
          <p:cNvSpPr/>
          <p:nvPr/>
        </p:nvSpPr>
        <p:spPr>
          <a:xfrm>
            <a:off x="8476488" y="32644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54" name="D6">
            <a:extLst>
              <a:ext uri="{FF2B5EF4-FFF2-40B4-BE49-F238E27FC236}">
                <a16:creationId xmlns:a16="http://schemas.microsoft.com/office/drawing/2014/main" id="{D690F18B-2C52-9D53-EB59-A9E698C586ED}"/>
              </a:ext>
            </a:extLst>
          </p:cNvPr>
          <p:cNvSpPr/>
          <p:nvPr/>
        </p:nvSpPr>
        <p:spPr>
          <a:xfrm>
            <a:off x="8293608" y="3749040"/>
            <a:ext cx="311810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(Admin / Analyst / Viewer) with an intuitive SOC dashboard designed for minimal analyst training time.</a:t>
            </a:r>
            <a:endParaRPr lang="en-US" sz="1050" dirty="0"/>
          </a:p>
        </p:txBody>
      </p:sp>
      <p:sp>
        <p:nvSpPr>
          <p:cNvPr id="55" name="Footer">
            <a:extLst>
              <a:ext uri="{FF2B5EF4-FFF2-40B4-BE49-F238E27FC236}">
                <a16:creationId xmlns:a16="http://schemas.microsoft.com/office/drawing/2014/main" id="{6C892FDD-C931-E260-52A5-BDE44020C7BB}"/>
              </a:ext>
            </a:extLst>
          </p:cNvPr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20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992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Dashboard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2130552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 with Framer Motion for the analyst dashboard and incident console; Socket.IO (client) for live alert streaming.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70992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98848" y="2130552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FastAPI for the REST layer — telemetry ingestion, fusion orchestration, and command dispatch.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93608" y="170992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8476488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/ ML Frameworks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93608" y="2130552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TensorFlow / Keras, and LightGBM — training and inference for all four detection agents.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332841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3264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Telemetry Capture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" y="37490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MongoDB (replica set) for storage; Sysmon, Suricata, Winlogbeat, and psutil for endpoint collection.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9768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332841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3264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Explainability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98848" y="37490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JWT + TOTP authentication, bcrypt-12 hashing, and SHAP for human-readable, per-alert explanations.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244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93608" y="332841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8476488" y="3264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Version Control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93608" y="37490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 for source control; PowerShell Remoting and Windows Services for lab deployment and management.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2706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 Walkthrough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the analyst experience — from login to incident response — across 24 captured screens.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798879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1–2</a:t>
            </a:r>
          </a:p>
        </p:txBody>
      </p:sp>
      <p:pic>
        <p:nvPicPr>
          <p:cNvPr id="3" name="Picture 2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6" y="1417320"/>
            <a:ext cx="5806431" cy="36291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99" y="5685739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01  Cinematic Startup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78347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Animated globe intro establishing the XDR brand before the analyst ever logs in.</a:t>
            </a:r>
          </a:p>
        </p:txBody>
      </p:sp>
      <p:pic>
        <p:nvPicPr>
          <p:cNvPr id="6" name="Picture 5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417320"/>
            <a:ext cx="5806431" cy="36291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60976" y="5688293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02  Brand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5978347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CDSR shield logo and product identity card, transitioning into the login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3–4</a:t>
            </a:r>
          </a:p>
        </p:txBody>
      </p:sp>
      <p:pic>
        <p:nvPicPr>
          <p:cNvPr id="3" name="Picture 2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320"/>
            <a:ext cx="6096000" cy="3948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21280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Calibri"/>
              </a:rPr>
              <a:t>03  Secure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601388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Email/password gate with TLS 1.3, FIPS 140-2, and Zero Trust posture badges.</a:t>
            </a:r>
          </a:p>
        </p:txBody>
      </p:sp>
      <p:pic>
        <p:nvPicPr>
          <p:cNvPr id="6" name="Picture 5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417320"/>
            <a:ext cx="5936133" cy="39483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5" y="5702647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Calibri"/>
              </a:rPr>
              <a:t>04  Two-Factor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6" y="600760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TOTP code entry with a live countdown and backup-code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19" y="5891876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05  Security Overview — Idle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5104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Dashboard at rest before monitoring starts; every metric reads zero honestly.</a:t>
            </a:r>
          </a:p>
        </p:txBody>
      </p:sp>
      <p:pic>
        <p:nvPicPr>
          <p:cNvPr id="6" name="Picture 5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056179"/>
            <a:ext cx="11069476" cy="4343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6" y="5891876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06  Full Navigation Sidebar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615104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All twelve views exposed, role-gated per the RBAC table (Admin shown here).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41713075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7–8</a:t>
            </a:r>
          </a:p>
        </p:txBody>
      </p:sp>
      <p:pic>
        <p:nvPicPr>
          <p:cNvPr id="3" name="Picture 2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687629"/>
            <a:ext cx="10705408" cy="488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77763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07  Live Monitoring — Real-Time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614476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Same dashboard seconds after Start Monitoring — real flows, real alerts, real threat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7–8</a:t>
            </a:r>
          </a:p>
        </p:txBody>
      </p:sp>
      <p:pic>
        <p:nvPicPr>
          <p:cNvPr id="6" name="Picture 5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071707" cy="47596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373" y="5841187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08  Attack Graph — Correlation Engine v3.2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373" y="6097219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Live force-graph linking an endpoint to the XDR server, with replay controls for past incidents.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438826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9–10</a:t>
            </a:r>
          </a:p>
        </p:txBody>
      </p:sp>
      <p:pic>
        <p:nvPicPr>
          <p:cNvPr id="3" name="Picture 2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12191"/>
            <a:ext cx="11117427" cy="46827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99" y="5886528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09  User 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40351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Per-user risk scoring against the CERT r4.2 baseline, with live </a:t>
            </a:r>
            <a:r>
              <a:rPr sz="1050" b="0" dirty="0" err="1">
                <a:solidFill>
                  <a:srgbClr val="CBD5E1"/>
                </a:solidFill>
                <a:latin typeface="Calibri"/>
              </a:rPr>
              <a:t>Winlogbeat</a:t>
            </a:r>
            <a:r>
              <a:rPr sz="1050" b="0" dirty="0">
                <a:solidFill>
                  <a:srgbClr val="CBD5E1"/>
                </a:solidFill>
                <a:latin typeface="Calibri"/>
              </a:rPr>
              <a:t>-fed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18290538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9–10</a:t>
            </a:r>
          </a:p>
        </p:txBody>
      </p:sp>
      <p:pic>
        <p:nvPicPr>
          <p:cNvPr id="6" name="Picture 5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732"/>
            <a:ext cx="10787632" cy="45304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86964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10  Endpoint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1" y="5940787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Fleet-wide online/offline status, isolation state, and a live active-threat alert.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11–12</a:t>
            </a:r>
          </a:p>
        </p:txBody>
      </p:sp>
      <p:pic>
        <p:nvPicPr>
          <p:cNvPr id="3" name="Picture 2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5554"/>
            <a:ext cx="10746971" cy="4461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98" y="5694366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11  SOAR Response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5986974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Nine executable response actions wired to the selected endpoint, from Kill Process to Monitor Persistence.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11–12</a:t>
            </a:r>
          </a:p>
        </p:txBody>
      </p:sp>
      <p:pic>
        <p:nvPicPr>
          <p:cNvPr id="6" name="Picture 5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4745"/>
            <a:ext cx="10414462" cy="461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85355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12  Malware Detection — </a:t>
            </a:r>
            <a:r>
              <a:rPr sz="1350" b="1" dirty="0" err="1">
                <a:solidFill>
                  <a:srgbClr val="F8FAFC"/>
                </a:solidFill>
                <a:latin typeface="Calibri"/>
              </a:rPr>
              <a:t>LightGBM</a:t>
            </a:r>
            <a:r>
              <a:rPr sz="1350" b="1" dirty="0">
                <a:solidFill>
                  <a:srgbClr val="F8FAFC"/>
                </a:solidFill>
                <a:latin typeface="Calibri"/>
              </a:rPr>
              <a:t> 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589990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On-demand and background file scanning with per-file confidence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26718876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13–14</a:t>
            </a:r>
          </a:p>
        </p:txBody>
      </p:sp>
      <p:pic>
        <p:nvPicPr>
          <p:cNvPr id="3" name="Picture 2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399"/>
            <a:ext cx="11245126" cy="47882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98" y="5888736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13  Sysmon Behavior — Process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614476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Live </a:t>
            </a:r>
            <a:r>
              <a:rPr sz="1050" b="0" dirty="0" err="1">
                <a:solidFill>
                  <a:srgbClr val="CBD5E1"/>
                </a:solidFill>
                <a:latin typeface="Calibri"/>
              </a:rPr>
              <a:t>ProcessCreate</a:t>
            </a:r>
            <a:r>
              <a:rPr sz="1050" b="0" dirty="0">
                <a:solidFill>
                  <a:srgbClr val="CBD5E1"/>
                </a:solidFill>
                <a:latin typeface="Calibri"/>
              </a:rPr>
              <a:t>/Terminate event stream with per-event risk 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13–14</a:t>
            </a:r>
          </a:p>
        </p:txBody>
      </p:sp>
      <p:pic>
        <p:nvPicPr>
          <p:cNvPr id="6" name="Picture 5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76992"/>
            <a:ext cx="10026535" cy="44785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36604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14  Profile &amp; 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1565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Admin-only role management, MFA status, and pending MFA recovery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29931896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15–16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658368"/>
            <a:ext cx="10875820" cy="49778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98" y="5848433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Calibri"/>
              </a:rPr>
              <a:t>15  Settings — System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614476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Toggleable UI, security, integration, and detection-threshold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15–16</a:t>
            </a:r>
          </a:p>
        </p:txBody>
      </p:sp>
      <p:pic>
        <p:nvPicPr>
          <p:cNvPr id="6" name="Picture 5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670721"/>
            <a:ext cx="10303625" cy="48578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19" y="5688486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16  Security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8" y="5907540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MFA status, session token lifetimes, and password rotation, all visible at a glance.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32803961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17–18</a:t>
            </a:r>
          </a:p>
        </p:txBody>
      </p:sp>
      <p:pic>
        <p:nvPicPr>
          <p:cNvPr id="3" name="Picture 2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713232"/>
            <a:ext cx="10497590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19" y="5852160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17  Integration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4476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Live health checks confirm Suricata, Sysmon, </a:t>
            </a:r>
            <a:r>
              <a:rPr sz="1050" b="0" dirty="0" err="1">
                <a:solidFill>
                  <a:srgbClr val="CBD5E1"/>
                </a:solidFill>
                <a:latin typeface="Calibri"/>
              </a:rPr>
              <a:t>Winlogbeat</a:t>
            </a:r>
            <a:r>
              <a:rPr sz="1050" b="0" dirty="0">
                <a:solidFill>
                  <a:srgbClr val="CBD5E1"/>
                </a:solidFill>
                <a:latin typeface="Calibri"/>
              </a:rPr>
              <a:t>, and MongoDB are all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17–18</a:t>
            </a:r>
          </a:p>
        </p:txBody>
      </p:sp>
      <p:pic>
        <p:nvPicPr>
          <p:cNvPr id="6" name="Picture 5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713232"/>
            <a:ext cx="10104899" cy="4773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19" y="5521803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18  Detection 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8" y="5849814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BD5E1"/>
                </a:solidFill>
                <a:latin typeface="Calibri"/>
              </a:rPr>
              <a:t>Per-agent anomaly and fusion severity cutoffs, tunable live without a redeploy.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42303971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19–20</a:t>
            </a:r>
          </a:p>
        </p:txBody>
      </p:sp>
      <p:pic>
        <p:nvPicPr>
          <p:cNvPr id="3" name="Picture 2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85869"/>
            <a:ext cx="10095807" cy="5041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98" y="5879523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19  Alert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6133795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Minimum severity filter and the auto-response toggle that gates CRITICAL-only SOAR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19–20</a:t>
            </a:r>
          </a:p>
        </p:txBody>
      </p:sp>
      <p:pic>
        <p:nvPicPr>
          <p:cNvPr id="6" name="Picture 5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10386753" cy="5121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10765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20  Incident Response — Attack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A live </a:t>
            </a:r>
            <a:r>
              <a:rPr sz="1050" b="0" dirty="0" err="1">
                <a:solidFill>
                  <a:srgbClr val="CBD5E1"/>
                </a:solidFill>
                <a:latin typeface="Calibri"/>
              </a:rPr>
              <a:t>PortScan</a:t>
            </a:r>
            <a:r>
              <a:rPr sz="1050" b="0" dirty="0">
                <a:solidFill>
                  <a:srgbClr val="CBD5E1"/>
                </a:solidFill>
                <a:latin typeface="Calibri"/>
              </a:rPr>
              <a:t>/T1046 alert with its SHAP contribution breakdown, ready for analyst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26664801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21–22</a:t>
            </a:r>
          </a:p>
        </p:txBody>
      </p:sp>
      <p:pic>
        <p:nvPicPr>
          <p:cNvPr id="3" name="Picture 2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707435"/>
            <a:ext cx="10594571" cy="5014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57957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Calibri"/>
              </a:rPr>
              <a:t>21  Response Executed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42422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BD5E1"/>
                </a:solidFill>
                <a:latin typeface="Calibri"/>
              </a:rPr>
              <a:t>Monitor Persistence confirmed complete; the incident report is now ready to download.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21–22</a:t>
            </a:r>
          </a:p>
        </p:txBody>
      </p:sp>
      <p:pic>
        <p:nvPicPr>
          <p:cNvPr id="6" name="Picture 5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7" y="613373"/>
            <a:ext cx="11297842" cy="48846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99303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22  Incident Report Generated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5890962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The signed PDF lands directly in the browser's downloads tray.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</p:spTree>
    <p:extLst>
      <p:ext uri="{BB962C8B-B14F-4D97-AF65-F5344CB8AC3E}">
        <p14:creationId xmlns:p14="http://schemas.microsoft.com/office/powerpoint/2010/main" val="36805079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spc="200">
                <a:solidFill>
                  <a:srgbClr val="38BDF8"/>
                </a:solidFill>
                <a:latin typeface="Consolas"/>
              </a:rPr>
              <a:t>WALKTHROUGH · SCREENS 23–24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8" y="5948754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23  Incident Report — Page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6240780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Incident summary and attack timeline, branded and ready for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2342" y="5913725"/>
            <a:ext cx="5478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>
                <a:solidFill>
                  <a:srgbClr val="F8FAFC"/>
                </a:solidFill>
                <a:latin typeface="Calibri"/>
              </a:rPr>
              <a:t>24  Incident Report — Page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2342" y="6189010"/>
            <a:ext cx="54786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dirty="0">
                <a:solidFill>
                  <a:srgbClr val="CBD5E1"/>
                </a:solidFill>
                <a:latin typeface="Calibri"/>
              </a:rPr>
              <a:t>Final containment status and analyst certification close out the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00">
                <a:solidFill>
                  <a:srgbClr val="94A3B8"/>
                </a:solidFill>
                <a:latin typeface="Consolas"/>
              </a:rPr>
              <a:t>CYBER SENTINEL XDR</a:t>
            </a:r>
          </a:p>
        </p:txBody>
      </p:sp>
      <p:pic>
        <p:nvPicPr>
          <p:cNvPr id="10" name="Picture 9" descr="23.png"/>
          <p:cNvPicPr>
            <a:picLocks noChangeAspect="1"/>
          </p:cNvPicPr>
          <p:nvPr/>
        </p:nvPicPr>
        <p:blipFill>
          <a:blip r:embed="rId2"/>
          <a:srcRect l="5445" r="3736"/>
          <a:stretch/>
        </p:blipFill>
        <p:spPr>
          <a:xfrm>
            <a:off x="304799" y="1219560"/>
            <a:ext cx="5084619" cy="4460028"/>
          </a:xfrm>
          <a:prstGeom prst="rect">
            <a:avLst/>
          </a:prstGeom>
        </p:spPr>
      </p:pic>
      <p:pic>
        <p:nvPicPr>
          <p:cNvPr id="11" name="Picture 10" descr="24.png"/>
          <p:cNvPicPr>
            <a:picLocks noChangeAspect="1"/>
          </p:cNvPicPr>
          <p:nvPr/>
        </p:nvPicPr>
        <p:blipFill>
          <a:blip r:embed="rId3"/>
          <a:srcRect l="5439" r="4872"/>
          <a:stretch/>
        </p:blipFill>
        <p:spPr>
          <a:xfrm>
            <a:off x="6276110" y="1219560"/>
            <a:ext cx="5611092" cy="446002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achieves end-to-end, and an honest account of where it currently falls short.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WORKS END-TO-END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 — Verified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authentication &amp; self-service recovery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130552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TOTP two-factor login, bcrypt-12 hashing, rate-limited lockouts, and a full MFA-gated account recovery flow — verified end-to-end in the live login and recovery screens.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 produces stable severity bands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98848" y="2130552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LOW/MEDIUM/HIGH/CRITICAL thresholds (0.50/0.70/0.85) hold consistently across single-domain and correlated multi-domain test scenarios.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9360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476488" y="1645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on every CRITICAL/HIGH alert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08" y="2130552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the live Incident Response modal — network/system/malware/user contribution breakdown shown per alert, not just an opaque score.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33284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3264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auto-response on CRITICAL severity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" y="37490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isolate_host, block_ip, kill_process, and quarantine_file confirmed executing via the endpoint agent and logged in command history.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33284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3264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PDF incident reporting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98848" y="37490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 real PortScan/T1046 alert produced a downloadable, two-page signed incident report with MITRE mapping and final containment status.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2440" y="312724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93608" y="332841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8476488" y="3264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93608" y="374904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Analyst / Viewer roles verified functioning in the live Profile &amp; User Management screen with per-user MFA status.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what we'd do differently, and where this project goes next.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  ·  FINAL YEAR PROJECT DEFENSE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1673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64408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264408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9884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3264408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3608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A1614C-E1A2-260F-0E76-6FFC61D39A0D}"/>
              </a:ext>
            </a:extLst>
          </p:cNvPr>
          <p:cNvSpPr txBox="1"/>
          <p:nvPr/>
        </p:nvSpPr>
        <p:spPr>
          <a:xfrm>
            <a:off x="704088" y="1965960"/>
            <a:ext cx="3118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F8FAFC"/>
                </a:solidFill>
                <a:latin typeface="Calibri"/>
              </a:rPr>
              <a:t>Event-streaming ingestion via Kafka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7C3157-AB2B-A325-0298-0849C95ABCB1}"/>
              </a:ext>
            </a:extLst>
          </p:cNvPr>
          <p:cNvSpPr txBox="1"/>
          <p:nvPr/>
        </p:nvSpPr>
        <p:spPr>
          <a:xfrm>
            <a:off x="704088" y="2399816"/>
            <a:ext cx="311810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dirty="0">
                <a:solidFill>
                  <a:srgbClr val="CBD5E1"/>
                </a:solidFill>
                <a:latin typeface="Calibri"/>
              </a:rPr>
              <a:t>Replace the synchronous </a:t>
            </a:r>
            <a:r>
              <a:rPr sz="950" b="0" dirty="0" err="1">
                <a:solidFill>
                  <a:srgbClr val="CBD5E1"/>
                </a:solidFill>
                <a:latin typeface="Calibri"/>
              </a:rPr>
              <a:t>FastAPI</a:t>
            </a:r>
            <a:r>
              <a:rPr sz="950" b="0" dirty="0">
                <a:solidFill>
                  <a:srgbClr val="CBD5E1"/>
                </a:solidFill>
                <a:latin typeface="Calibri"/>
              </a:rPr>
              <a:t> fan-out with a Kafka event bus, so each agent consumes its own topic independently and telemetry can be replayed for retraining.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87CDEA-F3E2-13E4-EF82-B7FF52D44AA7}"/>
              </a:ext>
            </a:extLst>
          </p:cNvPr>
          <p:cNvSpPr txBox="1"/>
          <p:nvPr/>
        </p:nvSpPr>
        <p:spPr>
          <a:xfrm>
            <a:off x="4498848" y="1965960"/>
            <a:ext cx="3118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F8FAFC"/>
                </a:solidFill>
                <a:latin typeface="Calibri"/>
              </a:rPr>
              <a:t>Containerized, Kubernetes-orchestrated deployment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C4F3FD-C62C-C72B-ECA3-990800DB9D66}"/>
              </a:ext>
            </a:extLst>
          </p:cNvPr>
          <p:cNvSpPr txBox="1"/>
          <p:nvPr/>
        </p:nvSpPr>
        <p:spPr>
          <a:xfrm>
            <a:off x="4498848" y="2551176"/>
            <a:ext cx="311810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dirty="0">
                <a:solidFill>
                  <a:srgbClr val="CBD5E1"/>
                </a:solidFill>
                <a:latin typeface="Calibri"/>
              </a:rPr>
              <a:t>Package the backend, four agents, and frontend as Docker containers behind Kubernetes, scaling elastically across hundreds of endpoints instead of one server process.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A6AB2C-DFE6-22BE-0B1F-8ED8C683A2DF}"/>
              </a:ext>
            </a:extLst>
          </p:cNvPr>
          <p:cNvSpPr txBox="1"/>
          <p:nvPr/>
        </p:nvSpPr>
        <p:spPr>
          <a:xfrm>
            <a:off x="8293608" y="1965960"/>
            <a:ext cx="3118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F8FAFC"/>
                </a:solidFill>
                <a:latin typeface="Calibri"/>
              </a:rPr>
              <a:t>Threat intelligence feed integration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514A91-97B0-0F69-F9A6-207EF425473D}"/>
              </a:ext>
            </a:extLst>
          </p:cNvPr>
          <p:cNvSpPr txBox="1"/>
          <p:nvPr/>
        </p:nvSpPr>
        <p:spPr>
          <a:xfrm>
            <a:off x="8293608" y="2551176"/>
            <a:ext cx="311810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dirty="0">
                <a:solidFill>
                  <a:srgbClr val="CBD5E1"/>
                </a:solidFill>
                <a:latin typeface="Calibri"/>
              </a:rPr>
              <a:t>Enrich detections with external IOC context from MISP, </a:t>
            </a:r>
            <a:r>
              <a:rPr sz="950" b="0" dirty="0" err="1">
                <a:solidFill>
                  <a:srgbClr val="CBD5E1"/>
                </a:solidFill>
                <a:latin typeface="Calibri"/>
              </a:rPr>
              <a:t>VirusTotal</a:t>
            </a:r>
            <a:r>
              <a:rPr sz="950" b="0" dirty="0">
                <a:solidFill>
                  <a:srgbClr val="CBD5E1"/>
                </a:solidFill>
                <a:latin typeface="Calibri"/>
              </a:rPr>
              <a:t>, and AlienVault OTX, instead of relying solely on internally trained models.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28C947-2CFD-2947-DB83-0F03B9BFD174}"/>
              </a:ext>
            </a:extLst>
          </p:cNvPr>
          <p:cNvSpPr txBox="1"/>
          <p:nvPr/>
        </p:nvSpPr>
        <p:spPr>
          <a:xfrm>
            <a:off x="704088" y="3721608"/>
            <a:ext cx="3118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F8FAFC"/>
                </a:solidFill>
                <a:latin typeface="Calibri"/>
              </a:rPr>
              <a:t>Long-term analytics data lake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0CBB1A-7E3C-2314-E282-D516F33771DA}"/>
              </a:ext>
            </a:extLst>
          </p:cNvPr>
          <p:cNvSpPr txBox="1"/>
          <p:nvPr/>
        </p:nvSpPr>
        <p:spPr>
          <a:xfrm>
            <a:off x="704088" y="4222690"/>
            <a:ext cx="311810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dirty="0">
                <a:solidFill>
                  <a:srgbClr val="CBD5E1"/>
                </a:solidFill>
                <a:latin typeface="Calibri"/>
              </a:rPr>
              <a:t>Move historical telemetry out of MongoDB's capped collections into Elasticsearch or </a:t>
            </a:r>
            <a:r>
              <a:rPr sz="950" b="0" dirty="0" err="1">
                <a:solidFill>
                  <a:srgbClr val="CBD5E1"/>
                </a:solidFill>
                <a:latin typeface="Calibri"/>
              </a:rPr>
              <a:t>ClickHouse</a:t>
            </a:r>
            <a:r>
              <a:rPr sz="950" b="0" dirty="0">
                <a:solidFill>
                  <a:srgbClr val="CBD5E1"/>
                </a:solidFill>
                <a:latin typeface="Calibri"/>
              </a:rPr>
              <a:t> for trend analysis beyond the current rolling windows.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45A635-C121-3D70-54F4-50D3BD43DF62}"/>
              </a:ext>
            </a:extLst>
          </p:cNvPr>
          <p:cNvSpPr txBox="1"/>
          <p:nvPr/>
        </p:nvSpPr>
        <p:spPr>
          <a:xfrm>
            <a:off x="4498848" y="3721608"/>
            <a:ext cx="3118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F8FAFC"/>
                </a:solidFill>
                <a:latin typeface="Calibri"/>
              </a:rPr>
              <a:t>Cloud and multi-cloud endpoint support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758B2A-BE5E-FCC5-82F6-DA10F647480B}"/>
              </a:ext>
            </a:extLst>
          </p:cNvPr>
          <p:cNvSpPr txBox="1"/>
          <p:nvPr/>
        </p:nvSpPr>
        <p:spPr>
          <a:xfrm>
            <a:off x="4498848" y="4205437"/>
            <a:ext cx="311810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dirty="0">
                <a:solidFill>
                  <a:srgbClr val="CBD5E1"/>
                </a:solidFill>
                <a:latin typeface="Calibri"/>
              </a:rPr>
              <a:t>Extend agents beyond on-prem Windows hosts to AWS / Azure / GCP workloads, broadening XDR coverage to hybrid infrastructure.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0C03BC-8EEC-65A7-1560-586A72CB555E}"/>
              </a:ext>
            </a:extLst>
          </p:cNvPr>
          <p:cNvSpPr txBox="1"/>
          <p:nvPr/>
        </p:nvSpPr>
        <p:spPr>
          <a:xfrm>
            <a:off x="8293608" y="3721608"/>
            <a:ext cx="311810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F8FAFC"/>
                </a:solidFill>
                <a:latin typeface="Calibri"/>
              </a:rPr>
              <a:t>SOAR ecosystem integrations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1739D1-7182-210B-AEC3-55B521473543}"/>
              </a:ext>
            </a:extLst>
          </p:cNvPr>
          <p:cNvSpPr txBox="1"/>
          <p:nvPr/>
        </p:nvSpPr>
        <p:spPr>
          <a:xfrm>
            <a:off x="8293608" y="4205437"/>
            <a:ext cx="311810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dirty="0">
                <a:solidFill>
                  <a:srgbClr val="CBD5E1"/>
                </a:solidFill>
                <a:latin typeface="Calibri"/>
              </a:rPr>
              <a:t>Push response plans and incident reports into Jira, ServiceNow, and Slack, so containment fits into existing SOC ticketing workflows.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3199" y="0"/>
            <a:ext cx="10311101" cy="61514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3199" y="615142"/>
            <a:ext cx="10311101" cy="4571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4639" y="66502"/>
            <a:ext cx="448887" cy="448887"/>
          </a:xfrm>
          <a:prstGeom prst="ellipse">
            <a:avLst/>
          </a:prstGeom>
          <a:solidFill>
            <a:srgbClr val="0A3D6B"/>
          </a:solidFill>
          <a:ln w="317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4639" y="66502"/>
            <a:ext cx="448887" cy="448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82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682" dirty="0"/>
          </a:p>
          <a:p>
            <a:pPr algn="ctr"/>
            <a:r>
              <a:rPr lang="en-US" sz="682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682" dirty="0"/>
          </a:p>
        </p:txBody>
      </p:sp>
      <p:sp>
        <p:nvSpPr>
          <p:cNvPr id="8" name="Text 6"/>
          <p:cNvSpPr/>
          <p:nvPr/>
        </p:nvSpPr>
        <p:spPr>
          <a:xfrm>
            <a:off x="1835872" y="20782"/>
            <a:ext cx="8520545" cy="299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363" b="1" kern="0" spc="13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SENTINEL XDR</a:t>
            </a:r>
            <a:endParaRPr lang="en-US" sz="2363" dirty="0"/>
          </a:p>
        </p:txBody>
      </p:sp>
      <p:sp>
        <p:nvSpPr>
          <p:cNvPr id="9" name="Text 7"/>
          <p:cNvSpPr/>
          <p:nvPr/>
        </p:nvSpPr>
        <p:spPr>
          <a:xfrm>
            <a:off x="1835872" y="311727"/>
            <a:ext cx="8520545" cy="133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73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Multi-Agent Extended Detection &amp; Response System</a:t>
            </a:r>
            <a:endParaRPr lang="en-US" sz="773" dirty="0"/>
          </a:p>
        </p:txBody>
      </p:sp>
      <p:sp>
        <p:nvSpPr>
          <p:cNvPr id="10" name="Text 8"/>
          <p:cNvSpPr/>
          <p:nvPr/>
        </p:nvSpPr>
        <p:spPr>
          <a:xfrm>
            <a:off x="1835872" y="453044"/>
            <a:ext cx="8520545" cy="124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Annas Habib   |   Syed Mazhar Hussain Shah  |   Malaika Rashid        Supervisor: Dr. Syed Nasir Shah</a:t>
            </a:r>
            <a:endParaRPr lang="en-US" sz="614" dirty="0"/>
          </a:p>
        </p:txBody>
      </p:sp>
      <p:sp>
        <p:nvSpPr>
          <p:cNvPr id="11" name="Shape 9"/>
          <p:cNvSpPr/>
          <p:nvPr/>
        </p:nvSpPr>
        <p:spPr>
          <a:xfrm>
            <a:off x="1233199" y="6608618"/>
            <a:ext cx="10263476" cy="24938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3199" y="6608618"/>
            <a:ext cx="9725891" cy="249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  •   Institute of Space Technology, Islamabad</a:t>
            </a:r>
            <a:endParaRPr lang="en-US" sz="773" dirty="0"/>
          </a:p>
        </p:txBody>
      </p:sp>
      <p:sp>
        <p:nvSpPr>
          <p:cNvPr id="13" name="Shape 11"/>
          <p:cNvSpPr/>
          <p:nvPr/>
        </p:nvSpPr>
        <p:spPr>
          <a:xfrm>
            <a:off x="1357890" y="648393"/>
            <a:ext cx="2909455" cy="166255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7890" y="648393"/>
            <a:ext cx="2909455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/ PROBLEM STATEMENT</a:t>
            </a:r>
            <a:endParaRPr lang="en-US" sz="727" dirty="0"/>
          </a:p>
        </p:txBody>
      </p:sp>
      <p:sp>
        <p:nvSpPr>
          <p:cNvPr id="19" name="Shape 17"/>
          <p:cNvSpPr/>
          <p:nvPr/>
        </p:nvSpPr>
        <p:spPr>
          <a:xfrm>
            <a:off x="1357890" y="835429"/>
            <a:ext cx="2909455" cy="5710844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8672" y="4213250"/>
            <a:ext cx="2759825" cy="1401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5848" indent="-155848">
              <a:spcAft>
                <a:spcPts val="500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four independently-specialized AI/ML models on domain-specific, publicly available threat datasets</a:t>
            </a:r>
            <a:endParaRPr lang="en-US" sz="682" dirty="0"/>
          </a:p>
          <a:p>
            <a:pPr marL="155848" indent="-155848">
              <a:spcAft>
                <a:spcPts val="500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weighted fusion engine correlating cross-domain signals into one unified 0–1 threat score</a:t>
            </a:r>
            <a:endParaRPr lang="en-US" sz="682" dirty="0"/>
          </a:p>
          <a:p>
            <a:pPr marL="155848" indent="-155848">
              <a:spcAft>
                <a:spcPts val="500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SHAP-based feature attribution to every generated alert for SOC analyst interpretability</a:t>
            </a:r>
            <a:endParaRPr lang="en-US" sz="682" dirty="0"/>
          </a:p>
          <a:p>
            <a:pPr marL="155848" indent="-155848">
              <a:spcAft>
                <a:spcPts val="500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SOAR response layer with 10 automated actions mapped to MITRE ATT&amp;CK techniques</a:t>
            </a:r>
            <a:endParaRPr lang="en-US" sz="682" dirty="0"/>
          </a:p>
          <a:p>
            <a:pPr marL="155848" indent="-155848">
              <a:spcAft>
                <a:spcPts val="500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real-time, role-aware SOC dashboard (Admin / Analyst / Viewer) with live fleet-wide monitoring</a:t>
            </a:r>
            <a:endParaRPr lang="en-US" sz="682" dirty="0"/>
          </a:p>
        </p:txBody>
      </p:sp>
      <p:sp>
        <p:nvSpPr>
          <p:cNvPr id="25" name="Shape 23"/>
          <p:cNvSpPr/>
          <p:nvPr/>
        </p:nvSpPr>
        <p:spPr>
          <a:xfrm>
            <a:off x="1366203" y="5694993"/>
            <a:ext cx="2913740" cy="166255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4639" y="5715775"/>
            <a:ext cx="2913740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/ SYSTEM DESIGN</a:t>
            </a:r>
            <a:endParaRPr lang="en-US" sz="727" dirty="0"/>
          </a:p>
        </p:txBody>
      </p:sp>
      <p:sp>
        <p:nvSpPr>
          <p:cNvPr id="27" name="Text 25"/>
          <p:cNvSpPr/>
          <p:nvPr/>
        </p:nvSpPr>
        <p:spPr>
          <a:xfrm>
            <a:off x="1358375" y="5994598"/>
            <a:ext cx="2826327" cy="232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82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five-layer, agent-based XDR architecture. All four AI agents run concurrently on every 5-second telemetry cycle from each monitored endpoint, independently, then fused into a single threat score.</a:t>
            </a:r>
            <a:endParaRPr lang="en-US" sz="682" dirty="0"/>
          </a:p>
        </p:txBody>
      </p:sp>
      <p:sp>
        <p:nvSpPr>
          <p:cNvPr id="28" name="Shape 26"/>
          <p:cNvSpPr/>
          <p:nvPr/>
        </p:nvSpPr>
        <p:spPr>
          <a:xfrm>
            <a:off x="4395944" y="655320"/>
            <a:ext cx="3241964" cy="151015"/>
          </a:xfrm>
          <a:prstGeom prst="roundRect">
            <a:avLst>
              <a:gd name="adj" fmla="val 1272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5944" y="621838"/>
            <a:ext cx="3241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5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INGEST  —  Endpoint &amp; Server Feeds  (5-second cycle)</a:t>
            </a:r>
            <a:endParaRPr lang="en-US" sz="659" dirty="0"/>
          </a:p>
        </p:txBody>
      </p:sp>
      <p:sp>
        <p:nvSpPr>
          <p:cNvPr id="30" name="Shape 28"/>
          <p:cNvSpPr/>
          <p:nvPr/>
        </p:nvSpPr>
        <p:spPr>
          <a:xfrm>
            <a:off x="6013017" y="793173"/>
            <a:ext cx="3909" cy="73429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1229" y="862792"/>
            <a:ext cx="24003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6252" y="1008611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6352" y="849836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1875" y="862792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91757" y="852575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74717" y="925137"/>
            <a:ext cx="781842" cy="1297396"/>
          </a:xfrm>
          <a:prstGeom prst="roundRect">
            <a:avLst>
              <a:gd name="adj" fmla="val 3825"/>
            </a:avLst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57556" y="941276"/>
            <a:ext cx="800546" cy="1090617"/>
          </a:xfrm>
          <a:prstGeom prst="rect">
            <a:avLst/>
          </a:prstGeom>
          <a:noFill/>
          <a:ln/>
        </p:spPr>
        <p:txBody>
          <a:bodyPr wrap="square" lIns="28864" tIns="28864" rIns="28864" bIns="28864" rtlCol="0" anchor="ctr"/>
          <a:lstStyle/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727" dirty="0"/>
          </a:p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</a:t>
            </a:r>
            <a:endParaRPr lang="en-US" sz="727" dirty="0"/>
          </a:p>
          <a:p>
            <a:pPr algn="ctr"/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RandomForest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CIC-IDS2017</a:t>
            </a:r>
            <a:endParaRPr lang="en-US" sz="727" dirty="0"/>
          </a:p>
          <a:p>
            <a:pPr algn="ctr"/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2.8M flows  |  63 features</a:t>
            </a:r>
            <a:endParaRPr lang="en-US" sz="727" dirty="0"/>
          </a:p>
          <a:p>
            <a:pPr algn="ctr"/>
            <a:r>
              <a:rPr lang="en-US" sz="31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 94.25%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 0.9862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 98.86%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 86.05%</a:t>
            </a:r>
            <a:endParaRPr lang="en-US" sz="727" dirty="0"/>
          </a:p>
        </p:txBody>
      </p:sp>
      <p:sp>
        <p:nvSpPr>
          <p:cNvPr id="38" name="Shape 36"/>
          <p:cNvSpPr/>
          <p:nvPr/>
        </p:nvSpPr>
        <p:spPr>
          <a:xfrm>
            <a:off x="5196044" y="947652"/>
            <a:ext cx="760615" cy="1263616"/>
          </a:xfrm>
          <a:prstGeom prst="roundRect">
            <a:avLst>
              <a:gd name="adj" fmla="val 3825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6460" y="920444"/>
            <a:ext cx="859783" cy="1254373"/>
          </a:xfrm>
          <a:prstGeom prst="rect">
            <a:avLst/>
          </a:prstGeom>
          <a:noFill/>
          <a:ln/>
        </p:spPr>
        <p:txBody>
          <a:bodyPr wrap="square" lIns="28864" tIns="28864" rIns="28864" bIns="28864" rtlCol="0" anchor="ctr"/>
          <a:lstStyle/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727" dirty="0"/>
          </a:p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IsolationForest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Insider Threat r4.2</a:t>
            </a:r>
            <a:endParaRPr lang="en-US" sz="727" dirty="0"/>
          </a:p>
          <a:p>
            <a:pPr algn="ctr"/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330,452 user-days  |  19 features</a:t>
            </a:r>
            <a:endParaRPr lang="en-US" sz="727" dirty="0"/>
          </a:p>
          <a:p>
            <a:pPr algn="ctr"/>
            <a:r>
              <a:rPr lang="en-US" sz="31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 0.8302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 0.50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Confirmed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imbalance: ~0.4%</a:t>
            </a:r>
            <a:endParaRPr lang="en-US" sz="727" dirty="0"/>
          </a:p>
        </p:txBody>
      </p:sp>
      <p:sp>
        <p:nvSpPr>
          <p:cNvPr id="40" name="Shape 38"/>
          <p:cNvSpPr/>
          <p:nvPr/>
        </p:nvSpPr>
        <p:spPr>
          <a:xfrm>
            <a:off x="5996144" y="951035"/>
            <a:ext cx="760615" cy="1243770"/>
          </a:xfrm>
          <a:prstGeom prst="roundRect">
            <a:avLst>
              <a:gd name="adj" fmla="val 382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71991" y="1070712"/>
            <a:ext cx="816188" cy="1012666"/>
          </a:xfrm>
          <a:prstGeom prst="rect">
            <a:avLst/>
          </a:prstGeom>
          <a:noFill/>
          <a:ln/>
        </p:spPr>
        <p:txBody>
          <a:bodyPr wrap="square" lIns="28864" tIns="28864" rIns="28864" bIns="28864" rtlCol="0" anchor="ctr"/>
          <a:lstStyle/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727" dirty="0"/>
          </a:p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</a:t>
            </a:r>
            <a:r>
              <a:rPr lang="en-US" sz="545" dirty="0" err="1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</a:t>
            </a:r>
            <a:r>
              <a:rPr lang="en-US" sz="727" dirty="0" err="1">
                <a:solidFill>
                  <a:schemeClr val="bg1"/>
                </a:solidFill>
              </a:rPr>
              <a:t>+</a:t>
            </a:r>
            <a:r>
              <a:rPr lang="en-US" sz="545" dirty="0" err="1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IF → </a:t>
            </a:r>
            <a:r>
              <a:rPr lang="en-US" sz="545" dirty="0" err="1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727" dirty="0"/>
          </a:p>
          <a:p>
            <a:pPr algn="ctr"/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 Call Traces</a:t>
            </a:r>
            <a:endParaRPr lang="en-US" sz="727" dirty="0"/>
          </a:p>
          <a:p>
            <a:pPr algn="ctr"/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ADFA-WD validation  |  12 classes</a:t>
            </a:r>
            <a:endParaRPr lang="en-US" sz="727" dirty="0"/>
          </a:p>
          <a:p>
            <a:pPr algn="ctr"/>
            <a:r>
              <a:rPr lang="en-US" sz="31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 0.7344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attack classes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path: max</a:t>
            </a:r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(LSTM,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DETECTOR1)</a:t>
            </a:r>
            <a:endParaRPr lang="en-US" sz="727" dirty="0"/>
          </a:p>
        </p:txBody>
      </p:sp>
      <p:sp>
        <p:nvSpPr>
          <p:cNvPr id="42" name="Shape 40"/>
          <p:cNvSpPr/>
          <p:nvPr/>
        </p:nvSpPr>
        <p:spPr>
          <a:xfrm>
            <a:off x="6796244" y="947651"/>
            <a:ext cx="760615" cy="1233328"/>
          </a:xfrm>
          <a:prstGeom prst="roundRect">
            <a:avLst>
              <a:gd name="adj" fmla="val 3825"/>
            </a:avLst>
          </a:prstGeom>
          <a:solidFill>
            <a:srgbClr val="002060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7343" y="1063072"/>
            <a:ext cx="778873" cy="964622"/>
          </a:xfrm>
          <a:prstGeom prst="rect">
            <a:avLst/>
          </a:prstGeom>
          <a:noFill/>
          <a:ln/>
        </p:spPr>
        <p:txBody>
          <a:bodyPr wrap="square" lIns="28864" tIns="28864" rIns="28864" bIns="28864" rtlCol="0" anchor="ctr"/>
          <a:lstStyle/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727" dirty="0"/>
          </a:p>
          <a:p>
            <a:pPr algn="ctr"/>
            <a:r>
              <a:rPr lang="en-US" sz="7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(binary)</a:t>
            </a:r>
            <a:endParaRPr lang="en-US" sz="727" dirty="0"/>
          </a:p>
          <a:p>
            <a:pPr algn="ctr"/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+ 22-rule IOC heuristic</a:t>
            </a:r>
            <a:endParaRPr lang="en-US" sz="727" dirty="0"/>
          </a:p>
          <a:p>
            <a:pPr algn="ctr"/>
            <a:r>
              <a:rPr lang="en-US" sz="2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 2018</a:t>
            </a:r>
            <a:endParaRPr lang="en-US" sz="727" dirty="0"/>
          </a:p>
          <a:p>
            <a:pPr algn="ctr"/>
            <a:r>
              <a:rPr lang="en-US" sz="500" i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280-dim PE vector  |  15,000 files</a:t>
            </a:r>
            <a:endParaRPr lang="en-US" sz="727" dirty="0"/>
          </a:p>
          <a:p>
            <a:pPr algn="ctr"/>
            <a:r>
              <a:rPr lang="en-US" sz="31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 93.37%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 0.9841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 91.46%</a:t>
            </a:r>
            <a:endParaRPr lang="en-US" sz="727" dirty="0"/>
          </a:p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 95.64%</a:t>
            </a:r>
            <a:endParaRPr lang="en-US" sz="727" dirty="0"/>
          </a:p>
        </p:txBody>
      </p:sp>
      <p:sp>
        <p:nvSpPr>
          <p:cNvPr id="44" name="Shape 42"/>
          <p:cNvSpPr/>
          <p:nvPr/>
        </p:nvSpPr>
        <p:spPr>
          <a:xfrm>
            <a:off x="4776252" y="2187286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6352" y="2187286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818" dirty="0"/>
          </a:p>
        </p:txBody>
      </p:sp>
      <p:sp>
        <p:nvSpPr>
          <p:cNvPr id="46" name="Shape 44"/>
          <p:cNvSpPr/>
          <p:nvPr/>
        </p:nvSpPr>
        <p:spPr>
          <a:xfrm>
            <a:off x="6376452" y="2187286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66780" y="2188763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6252" y="2278726"/>
            <a:ext cx="24003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16926" y="2278727"/>
            <a:ext cx="0" cy="64077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95944" y="2342804"/>
            <a:ext cx="3241964" cy="282633"/>
          </a:xfrm>
          <a:prstGeom prst="roundRect">
            <a:avLst>
              <a:gd name="adj" fmla="val 10294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95944" y="2342804"/>
            <a:ext cx="3241964" cy="282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8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ENGINE
</a:t>
            </a:r>
            <a:r>
              <a:rPr lang="en-US" sz="54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0.35·Network + 0.30·User + 0.15·System + 0.20·Malware</a:t>
            </a:r>
            <a:endParaRPr lang="en-US" sz="682" dirty="0"/>
          </a:p>
        </p:txBody>
      </p:sp>
      <p:sp>
        <p:nvSpPr>
          <p:cNvPr id="52" name="Shape 50"/>
          <p:cNvSpPr/>
          <p:nvPr/>
        </p:nvSpPr>
        <p:spPr>
          <a:xfrm>
            <a:off x="6016926" y="2625436"/>
            <a:ext cx="0" cy="103909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95944" y="2729345"/>
            <a:ext cx="3241964" cy="216131"/>
          </a:xfrm>
          <a:prstGeom prst="roundRect">
            <a:avLst>
              <a:gd name="adj" fmla="val 1346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95944" y="2729345"/>
            <a:ext cx="3241964" cy="216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  —  Feature Attribution per Agent on Every Alert</a:t>
            </a:r>
            <a:endParaRPr lang="en-US" sz="636" dirty="0"/>
          </a:p>
        </p:txBody>
      </p:sp>
      <p:sp>
        <p:nvSpPr>
          <p:cNvPr id="55" name="Shape 53"/>
          <p:cNvSpPr/>
          <p:nvPr/>
        </p:nvSpPr>
        <p:spPr>
          <a:xfrm>
            <a:off x="6016926" y="2945476"/>
            <a:ext cx="0" cy="103909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95944" y="3049385"/>
            <a:ext cx="3241964" cy="216131"/>
          </a:xfrm>
          <a:prstGeom prst="roundRect">
            <a:avLst>
              <a:gd name="adj" fmla="val 13462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95944" y="3049385"/>
            <a:ext cx="3241964" cy="216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 RESPONSE  —  10 Automated Actions  |  MITRE ATT&amp;CK Mapped</a:t>
            </a:r>
            <a:endParaRPr lang="en-US" sz="636" dirty="0"/>
          </a:p>
        </p:txBody>
      </p:sp>
      <p:sp>
        <p:nvSpPr>
          <p:cNvPr id="58" name="Shape 56"/>
          <p:cNvSpPr/>
          <p:nvPr/>
        </p:nvSpPr>
        <p:spPr>
          <a:xfrm>
            <a:off x="4374717" y="3417834"/>
            <a:ext cx="3325091" cy="166255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3856" y="3425618"/>
            <a:ext cx="3325091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DATASETS</a:t>
            </a:r>
            <a:endParaRPr lang="en-US" sz="727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/>
        </p:nvGraphicFramePr>
        <p:xfrm>
          <a:off x="4374578" y="3584089"/>
          <a:ext cx="3241964" cy="1238595"/>
        </p:xfrm>
        <a:graphic>
          <a:graphicData uri="http://schemas.openxmlformats.org/drawingml/2006/table">
            <a:tbl>
              <a:tblPr/>
              <a:tblGrid>
                <a:gridCol w="78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79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 &amp; Scope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Algorithm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Detection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CIC-IDS2017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2.8M flows  |  63 features (trained)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RandomForest (200 trees, max_depth=20)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Behavior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 Insider Threat r4.2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330,452 user-days  |  19 features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IsolationForest (contamination=0.001)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Monitor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GHC Traces / ADFA-WD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attack classes  |  n-gram 1–3 TF-IDF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→ IsolationForest → XGBoost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Malware Analysis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EMBER 2018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15,000 PE files  |  280-dim vector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 (binary classifier)</a:t>
                      </a:r>
                      <a:endParaRPr lang="en-US" sz="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564" marR="41564" marT="20782" marB="20782"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Shape 58"/>
          <p:cNvSpPr/>
          <p:nvPr/>
        </p:nvSpPr>
        <p:spPr>
          <a:xfrm>
            <a:off x="4374717" y="4853858"/>
            <a:ext cx="3325091" cy="166255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350472" y="4846238"/>
            <a:ext cx="3325091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727" dirty="0"/>
          </a:p>
        </p:txBody>
      </p:sp>
      <p:sp>
        <p:nvSpPr>
          <p:cNvPr id="63" name="Shape 60"/>
          <p:cNvSpPr/>
          <p:nvPr/>
        </p:nvSpPr>
        <p:spPr>
          <a:xfrm>
            <a:off x="4412817" y="5046436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412817" y="5046436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591" dirty="0"/>
          </a:p>
        </p:txBody>
      </p:sp>
      <p:sp>
        <p:nvSpPr>
          <p:cNvPr id="65" name="Shape 62"/>
          <p:cNvSpPr/>
          <p:nvPr/>
        </p:nvSpPr>
        <p:spPr>
          <a:xfrm>
            <a:off x="5220399" y="5046436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220399" y="5046436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Dashboard</a:t>
            </a:r>
            <a:endParaRPr lang="en-US" sz="591" dirty="0"/>
          </a:p>
        </p:txBody>
      </p:sp>
      <p:sp>
        <p:nvSpPr>
          <p:cNvPr id="67" name="Shape 64"/>
          <p:cNvSpPr/>
          <p:nvPr/>
        </p:nvSpPr>
        <p:spPr>
          <a:xfrm>
            <a:off x="6013017" y="5046436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027980" y="5046436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Python/scikit-learn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Training</a:t>
            </a:r>
            <a:endParaRPr lang="en-US" sz="591" dirty="0"/>
          </a:p>
        </p:txBody>
      </p:sp>
      <p:sp>
        <p:nvSpPr>
          <p:cNvPr id="69" name="Shape 66"/>
          <p:cNvSpPr/>
          <p:nvPr/>
        </p:nvSpPr>
        <p:spPr>
          <a:xfrm>
            <a:off x="6835562" y="5046436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835562" y="5046436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591" dirty="0"/>
          </a:p>
        </p:txBody>
      </p:sp>
      <p:sp>
        <p:nvSpPr>
          <p:cNvPr id="71" name="Shape 68"/>
          <p:cNvSpPr/>
          <p:nvPr/>
        </p:nvSpPr>
        <p:spPr>
          <a:xfrm>
            <a:off x="4408067" y="5326990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408067" y="5326990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/ Sysmon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591" dirty="0"/>
          </a:p>
        </p:txBody>
      </p:sp>
      <p:sp>
        <p:nvSpPr>
          <p:cNvPr id="73" name="Shape 70"/>
          <p:cNvSpPr/>
          <p:nvPr/>
        </p:nvSpPr>
        <p:spPr>
          <a:xfrm>
            <a:off x="5226217" y="5326990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226217" y="5326990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Winlogbeat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Logs</a:t>
            </a:r>
            <a:endParaRPr lang="en-US" sz="591" dirty="0"/>
          </a:p>
        </p:txBody>
      </p:sp>
      <p:sp>
        <p:nvSpPr>
          <p:cNvPr id="75" name="Shape 72"/>
          <p:cNvSpPr/>
          <p:nvPr/>
        </p:nvSpPr>
        <p:spPr>
          <a:xfrm>
            <a:off x="6033799" y="5326990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033799" y="5326990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591" dirty="0"/>
          </a:p>
        </p:txBody>
      </p:sp>
      <p:sp>
        <p:nvSpPr>
          <p:cNvPr id="77" name="Shape 74"/>
          <p:cNvSpPr/>
          <p:nvPr/>
        </p:nvSpPr>
        <p:spPr>
          <a:xfrm>
            <a:off x="6841380" y="5326990"/>
            <a:ext cx="775162" cy="241069"/>
          </a:xfrm>
          <a:prstGeom prst="roundRect">
            <a:avLst>
              <a:gd name="adj" fmla="val 1034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841380" y="5326990"/>
            <a:ext cx="775162" cy="241069"/>
          </a:xfrm>
          <a:prstGeom prst="rect">
            <a:avLst/>
          </a:prstGeom>
          <a:noFill/>
          <a:ln/>
        </p:spPr>
        <p:txBody>
          <a:bodyPr wrap="square" lIns="17318" tIns="17318" rIns="17318" bIns="17318" rtlCol="0" anchor="ctr"/>
          <a:lstStyle/>
          <a:p>
            <a:pPr algn="ctr"/>
            <a:r>
              <a:rPr lang="en-US" sz="59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/ LightGBM
</a:t>
            </a:r>
            <a:r>
              <a:rPr lang="en-US" sz="45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591" dirty="0"/>
          </a:p>
        </p:txBody>
      </p:sp>
      <p:sp>
        <p:nvSpPr>
          <p:cNvPr id="79" name="Shape 76"/>
          <p:cNvSpPr/>
          <p:nvPr/>
        </p:nvSpPr>
        <p:spPr>
          <a:xfrm>
            <a:off x="4365435" y="5599925"/>
            <a:ext cx="3325091" cy="166255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350472" y="5599925"/>
            <a:ext cx="3325091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COVERAGE</a:t>
            </a:r>
            <a:endParaRPr lang="en-US" sz="727" dirty="0"/>
          </a:p>
        </p:txBody>
      </p:sp>
      <p:sp>
        <p:nvSpPr>
          <p:cNvPr id="81" name="Shape 78"/>
          <p:cNvSpPr/>
          <p:nvPr/>
        </p:nvSpPr>
        <p:spPr>
          <a:xfrm>
            <a:off x="4350472" y="5804280"/>
            <a:ext cx="315884" cy="99753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350472" y="5804280"/>
            <a:ext cx="315884" cy="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T1486</a:t>
            </a:r>
            <a:endParaRPr lang="en-US" sz="545" dirty="0"/>
          </a:p>
        </p:txBody>
      </p:sp>
      <p:sp>
        <p:nvSpPr>
          <p:cNvPr id="83" name="Text 80"/>
          <p:cNvSpPr/>
          <p:nvPr/>
        </p:nvSpPr>
        <p:spPr>
          <a:xfrm>
            <a:off x="4691294" y="5819174"/>
            <a:ext cx="2901142" cy="141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Activity  </a:t>
            </a:r>
            <a:r>
              <a:rPr lang="en-US" sz="54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(Malware + System)</a:t>
            </a:r>
            <a:r>
              <a:rPr lang="en-US" sz="636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isolate_host + quarantine_file + restore_file</a:t>
            </a:r>
            <a:endParaRPr lang="en-US" sz="636" dirty="0"/>
          </a:p>
        </p:txBody>
      </p:sp>
      <p:sp>
        <p:nvSpPr>
          <p:cNvPr id="84" name="Shape 81"/>
          <p:cNvSpPr/>
          <p:nvPr/>
        </p:nvSpPr>
        <p:spPr>
          <a:xfrm>
            <a:off x="4350472" y="5945596"/>
            <a:ext cx="315884" cy="99753"/>
          </a:xfrm>
          <a:prstGeom prst="roundRect">
            <a:avLst>
              <a:gd name="adj" fmla="val 20833"/>
            </a:avLst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350472" y="5945596"/>
            <a:ext cx="315884" cy="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T1071</a:t>
            </a:r>
            <a:endParaRPr lang="en-US" sz="545" dirty="0"/>
          </a:p>
        </p:txBody>
      </p:sp>
      <p:sp>
        <p:nvSpPr>
          <p:cNvPr id="86" name="Text 83"/>
          <p:cNvSpPr/>
          <p:nvPr/>
        </p:nvSpPr>
        <p:spPr>
          <a:xfrm>
            <a:off x="4691294" y="5960490"/>
            <a:ext cx="2901142" cy="141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Beaconing  </a:t>
            </a:r>
            <a:r>
              <a:rPr lang="en-US" sz="54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(Network + System)</a:t>
            </a:r>
            <a:r>
              <a:rPr lang="en-US" sz="636" b="1" dirty="0">
                <a:solidFill>
                  <a:srgbClr val="0D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block_ip + isolate_host</a:t>
            </a:r>
            <a:endParaRPr lang="en-US" sz="636" dirty="0"/>
          </a:p>
        </p:txBody>
      </p:sp>
      <p:sp>
        <p:nvSpPr>
          <p:cNvPr id="87" name="Shape 84"/>
          <p:cNvSpPr/>
          <p:nvPr/>
        </p:nvSpPr>
        <p:spPr>
          <a:xfrm>
            <a:off x="4350472" y="6086913"/>
            <a:ext cx="315884" cy="99753"/>
          </a:xfrm>
          <a:prstGeom prst="roundRect">
            <a:avLst>
              <a:gd name="adj" fmla="val 20833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350472" y="6086913"/>
            <a:ext cx="315884" cy="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T1068</a:t>
            </a:r>
            <a:endParaRPr lang="en-US" sz="545" dirty="0"/>
          </a:p>
        </p:txBody>
      </p:sp>
      <p:sp>
        <p:nvSpPr>
          <p:cNvPr id="89" name="Text 86"/>
          <p:cNvSpPr/>
          <p:nvPr/>
        </p:nvSpPr>
        <p:spPr>
          <a:xfrm>
            <a:off x="4691294" y="6101807"/>
            <a:ext cx="2901142" cy="141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  </a:t>
            </a:r>
            <a:r>
              <a:rPr lang="en-US" sz="54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 + System)</a:t>
            </a:r>
            <a:r>
              <a:rPr lang="en-US" sz="636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lock_account + kill_process + monitor_persistence</a:t>
            </a:r>
            <a:endParaRPr lang="en-US" sz="636" dirty="0"/>
          </a:p>
        </p:txBody>
      </p:sp>
      <p:sp>
        <p:nvSpPr>
          <p:cNvPr id="90" name="Shape 87"/>
          <p:cNvSpPr/>
          <p:nvPr/>
        </p:nvSpPr>
        <p:spPr>
          <a:xfrm>
            <a:off x="4350472" y="6228229"/>
            <a:ext cx="315884" cy="99753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350472" y="6228229"/>
            <a:ext cx="315884" cy="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T1021</a:t>
            </a:r>
            <a:endParaRPr lang="en-US" sz="545" dirty="0"/>
          </a:p>
        </p:txBody>
      </p:sp>
      <p:sp>
        <p:nvSpPr>
          <p:cNvPr id="92" name="Text 89"/>
          <p:cNvSpPr/>
          <p:nvPr/>
        </p:nvSpPr>
        <p:spPr>
          <a:xfrm>
            <a:off x="4691294" y="6243123"/>
            <a:ext cx="2901142" cy="141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 </a:t>
            </a:r>
            <a:r>
              <a:rPr lang="en-US" sz="54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(Network + User)</a:t>
            </a:r>
            <a:r>
              <a:rPr lang="en-US" sz="636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isolate_host + block_ip</a:t>
            </a:r>
            <a:endParaRPr lang="en-US" sz="636" dirty="0"/>
          </a:p>
        </p:txBody>
      </p:sp>
      <p:sp>
        <p:nvSpPr>
          <p:cNvPr id="93" name="Shape 90"/>
          <p:cNvSpPr/>
          <p:nvPr/>
        </p:nvSpPr>
        <p:spPr>
          <a:xfrm>
            <a:off x="4350472" y="6369545"/>
            <a:ext cx="315884" cy="99753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350472" y="6369545"/>
            <a:ext cx="315884" cy="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T1110</a:t>
            </a:r>
            <a:endParaRPr lang="en-US" sz="545" dirty="0"/>
          </a:p>
        </p:txBody>
      </p:sp>
      <p:sp>
        <p:nvSpPr>
          <p:cNvPr id="95" name="Text 92"/>
          <p:cNvSpPr/>
          <p:nvPr/>
        </p:nvSpPr>
        <p:spPr>
          <a:xfrm>
            <a:off x="4691294" y="6384439"/>
            <a:ext cx="2901142" cy="141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 </a:t>
            </a:r>
            <a:r>
              <a:rPr lang="en-US" sz="54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(Network Agent)</a:t>
            </a:r>
            <a:r>
              <a:rPr lang="en-US" sz="636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lock_account + block_ip</a:t>
            </a:r>
            <a:endParaRPr lang="en-US" sz="636" dirty="0"/>
          </a:p>
        </p:txBody>
      </p:sp>
      <p:sp>
        <p:nvSpPr>
          <p:cNvPr id="96" name="Shape 93"/>
          <p:cNvSpPr/>
          <p:nvPr/>
        </p:nvSpPr>
        <p:spPr>
          <a:xfrm>
            <a:off x="7758690" y="648393"/>
            <a:ext cx="3785610" cy="166255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7758690" y="648393"/>
            <a:ext cx="3054927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/ OUTCOMES</a:t>
            </a:r>
            <a:endParaRPr lang="en-US" sz="727" dirty="0"/>
          </a:p>
        </p:txBody>
      </p:sp>
      <p:sp>
        <p:nvSpPr>
          <p:cNvPr id="98" name="Shape 95"/>
          <p:cNvSpPr/>
          <p:nvPr/>
        </p:nvSpPr>
        <p:spPr>
          <a:xfrm>
            <a:off x="7789661" y="890846"/>
            <a:ext cx="3754639" cy="623455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9" name="Shape 96"/>
          <p:cNvSpPr/>
          <p:nvPr/>
        </p:nvSpPr>
        <p:spPr>
          <a:xfrm>
            <a:off x="7758690" y="839585"/>
            <a:ext cx="3785610" cy="166255"/>
          </a:xfrm>
          <a:prstGeom prst="roundRect">
            <a:avLst>
              <a:gd name="adj" fmla="val 15000"/>
            </a:avLst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808566" y="839585"/>
            <a:ext cx="2955175" cy="166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Detection  —  RandomForest  (CIC-IDS2017)</a:t>
            </a:r>
            <a:endParaRPr lang="en-US" sz="568" dirty="0"/>
          </a:p>
        </p:txBody>
      </p:sp>
      <p:sp>
        <p:nvSpPr>
          <p:cNvPr id="101" name="Text 98"/>
          <p:cNvSpPr/>
          <p:nvPr/>
        </p:nvSpPr>
        <p:spPr>
          <a:xfrm>
            <a:off x="7816879" y="1022465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0D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94.25%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9" dirty="0"/>
          </a:p>
        </p:txBody>
      </p:sp>
      <p:sp>
        <p:nvSpPr>
          <p:cNvPr id="102" name="Text 99"/>
          <p:cNvSpPr/>
          <p:nvPr/>
        </p:nvSpPr>
        <p:spPr>
          <a:xfrm>
            <a:off x="8706069" y="1007693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0D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0.9862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09" dirty="0"/>
          </a:p>
        </p:txBody>
      </p:sp>
      <p:sp>
        <p:nvSpPr>
          <p:cNvPr id="103" name="Text 100"/>
          <p:cNvSpPr/>
          <p:nvPr/>
        </p:nvSpPr>
        <p:spPr>
          <a:xfrm>
            <a:off x="9653472" y="1032631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0D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98.86%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9" dirty="0"/>
          </a:p>
        </p:txBody>
      </p:sp>
      <p:sp>
        <p:nvSpPr>
          <p:cNvPr id="104" name="Text 101"/>
          <p:cNvSpPr/>
          <p:nvPr/>
        </p:nvSpPr>
        <p:spPr>
          <a:xfrm>
            <a:off x="10688926" y="1059710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0D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86.05%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9" dirty="0"/>
          </a:p>
        </p:txBody>
      </p:sp>
      <p:sp>
        <p:nvSpPr>
          <p:cNvPr id="105" name="Shape 102"/>
          <p:cNvSpPr/>
          <p:nvPr/>
        </p:nvSpPr>
        <p:spPr>
          <a:xfrm>
            <a:off x="7758690" y="1504603"/>
            <a:ext cx="3785610" cy="623455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7758690" y="1504603"/>
            <a:ext cx="3785610" cy="166255"/>
          </a:xfrm>
          <a:prstGeom prst="roundRect">
            <a:avLst>
              <a:gd name="adj" fmla="val 150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7808566" y="1504603"/>
            <a:ext cx="2955175" cy="166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Analysis  —  LightGBM  (EMBER 2018)</a:t>
            </a:r>
            <a:endParaRPr lang="en-US" sz="568" dirty="0"/>
          </a:p>
        </p:txBody>
      </p:sp>
      <p:sp>
        <p:nvSpPr>
          <p:cNvPr id="108" name="Text 105"/>
          <p:cNvSpPr/>
          <p:nvPr/>
        </p:nvSpPr>
        <p:spPr>
          <a:xfrm>
            <a:off x="7816879" y="1687483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93.37%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9" dirty="0"/>
          </a:p>
        </p:txBody>
      </p:sp>
      <p:sp>
        <p:nvSpPr>
          <p:cNvPr id="109" name="Text 106"/>
          <p:cNvSpPr/>
          <p:nvPr/>
        </p:nvSpPr>
        <p:spPr>
          <a:xfrm>
            <a:off x="8706069" y="1672711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0.9841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09" dirty="0"/>
          </a:p>
        </p:txBody>
      </p:sp>
      <p:sp>
        <p:nvSpPr>
          <p:cNvPr id="110" name="Text 107"/>
          <p:cNvSpPr/>
          <p:nvPr/>
        </p:nvSpPr>
        <p:spPr>
          <a:xfrm>
            <a:off x="9653472" y="1697649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91.46%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9" dirty="0"/>
          </a:p>
        </p:txBody>
      </p:sp>
      <p:sp>
        <p:nvSpPr>
          <p:cNvPr id="111" name="Text 108"/>
          <p:cNvSpPr/>
          <p:nvPr/>
        </p:nvSpPr>
        <p:spPr>
          <a:xfrm>
            <a:off x="10722177" y="1705505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95.64%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9" dirty="0"/>
          </a:p>
        </p:txBody>
      </p:sp>
      <p:sp>
        <p:nvSpPr>
          <p:cNvPr id="112" name="Shape 109"/>
          <p:cNvSpPr/>
          <p:nvPr/>
        </p:nvSpPr>
        <p:spPr>
          <a:xfrm>
            <a:off x="7758690" y="2169622"/>
            <a:ext cx="3785610" cy="623455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3" name="Shape 110"/>
          <p:cNvSpPr/>
          <p:nvPr/>
        </p:nvSpPr>
        <p:spPr>
          <a:xfrm>
            <a:off x="7758690" y="2169622"/>
            <a:ext cx="3785610" cy="166255"/>
          </a:xfrm>
          <a:prstGeom prst="roundRect">
            <a:avLst>
              <a:gd name="adj" fmla="val 15000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808566" y="2169622"/>
            <a:ext cx="2955175" cy="166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Behavior  —  IsolationForest  (CERT r4.2</a:t>
            </a:r>
            <a:r>
              <a:rPr lang="en-US" sz="568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endParaRPr lang="en-US" sz="568" dirty="0"/>
          </a:p>
        </p:txBody>
      </p:sp>
      <p:sp>
        <p:nvSpPr>
          <p:cNvPr id="115" name="Text 112"/>
          <p:cNvSpPr/>
          <p:nvPr/>
        </p:nvSpPr>
        <p:spPr>
          <a:xfrm>
            <a:off x="7816879" y="2352502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0.8302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09" dirty="0"/>
          </a:p>
        </p:txBody>
      </p:sp>
      <p:sp>
        <p:nvSpPr>
          <p:cNvPr id="116" name="Text 113"/>
          <p:cNvSpPr/>
          <p:nvPr/>
        </p:nvSpPr>
        <p:spPr>
          <a:xfrm>
            <a:off x="8706069" y="2337730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330,452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User-days</a:t>
            </a:r>
            <a:endParaRPr lang="en-US" sz="909" dirty="0"/>
          </a:p>
        </p:txBody>
      </p:sp>
      <p:sp>
        <p:nvSpPr>
          <p:cNvPr id="117" name="Text 114"/>
          <p:cNvSpPr/>
          <p:nvPr/>
        </p:nvSpPr>
        <p:spPr>
          <a:xfrm>
            <a:off x="9653472" y="2362668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9" dirty="0"/>
          </a:p>
        </p:txBody>
      </p:sp>
      <p:sp>
        <p:nvSpPr>
          <p:cNvPr id="118" name="Text 115"/>
          <p:cNvSpPr/>
          <p:nvPr/>
        </p:nvSpPr>
        <p:spPr>
          <a:xfrm>
            <a:off x="10722177" y="2370524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68.9%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</a:t>
            </a:r>
            <a:endParaRPr lang="en-US" sz="909" dirty="0"/>
          </a:p>
        </p:txBody>
      </p:sp>
      <p:sp>
        <p:nvSpPr>
          <p:cNvPr id="119" name="Shape 116"/>
          <p:cNvSpPr/>
          <p:nvPr/>
        </p:nvSpPr>
        <p:spPr>
          <a:xfrm>
            <a:off x="7758690" y="2834640"/>
            <a:ext cx="3785610" cy="623455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0" name="Shape 117"/>
          <p:cNvSpPr/>
          <p:nvPr/>
        </p:nvSpPr>
        <p:spPr>
          <a:xfrm>
            <a:off x="7758690" y="2834640"/>
            <a:ext cx="3785610" cy="166255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7808566" y="2834640"/>
            <a:ext cx="2955175" cy="166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Monitor  —  DETECTOR1  (ADFA-WD)</a:t>
            </a:r>
            <a:endParaRPr lang="en-US" sz="568" dirty="0"/>
          </a:p>
        </p:txBody>
      </p:sp>
      <p:sp>
        <p:nvSpPr>
          <p:cNvPr id="122" name="Text 119"/>
          <p:cNvSpPr/>
          <p:nvPr/>
        </p:nvSpPr>
        <p:spPr>
          <a:xfrm>
            <a:off x="7816879" y="3017520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0.7344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09" dirty="0"/>
          </a:p>
        </p:txBody>
      </p:sp>
      <p:sp>
        <p:nvSpPr>
          <p:cNvPr id="123" name="Text 120"/>
          <p:cNvSpPr/>
          <p:nvPr/>
        </p:nvSpPr>
        <p:spPr>
          <a:xfrm>
            <a:off x="8706069" y="3002748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types</a:t>
            </a:r>
            <a:endParaRPr lang="en-US" sz="909" dirty="0"/>
          </a:p>
        </p:txBody>
      </p:sp>
      <p:sp>
        <p:nvSpPr>
          <p:cNvPr id="124" name="Text 121"/>
          <p:cNvSpPr/>
          <p:nvPr/>
        </p:nvSpPr>
        <p:spPr>
          <a:xfrm>
            <a:off x="9653472" y="3027686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max(dual)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909" dirty="0"/>
          </a:p>
        </p:txBody>
      </p:sp>
      <p:sp>
        <p:nvSpPr>
          <p:cNvPr id="125" name="Text 122"/>
          <p:cNvSpPr/>
          <p:nvPr/>
        </p:nvSpPr>
        <p:spPr>
          <a:xfrm>
            <a:off x="10722177" y="3035542"/>
            <a:ext cx="734637" cy="407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9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ADFA-WD
</a:t>
            </a: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9" dirty="0"/>
          </a:p>
        </p:txBody>
      </p:sp>
      <p:sp>
        <p:nvSpPr>
          <p:cNvPr id="126" name="Shape 123"/>
          <p:cNvSpPr/>
          <p:nvPr/>
        </p:nvSpPr>
        <p:spPr>
          <a:xfrm>
            <a:off x="7758690" y="3499658"/>
            <a:ext cx="3785610" cy="166255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7758690" y="3499658"/>
            <a:ext cx="3054927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COMPARISON</a:t>
            </a:r>
            <a:endParaRPr lang="en-US" sz="727" dirty="0"/>
          </a:p>
        </p:txBody>
      </p:sp>
      <p:graphicFrame>
        <p:nvGraphicFramePr>
          <p:cNvPr id="128" name="Chart 0"/>
          <p:cNvGraphicFramePr/>
          <p:nvPr>
            <p:extLst>
              <p:ext uri="{D42A27DB-BD31-4B8C-83A1-F6EECF244321}">
                <p14:modId xmlns:p14="http://schemas.microsoft.com/office/powerpoint/2010/main" val="2153582151"/>
              </p:ext>
            </p:extLst>
          </p:nvPr>
        </p:nvGraphicFramePr>
        <p:xfrm>
          <a:off x="7723775" y="3699163"/>
          <a:ext cx="3785610" cy="980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9" name="Shape 125"/>
          <p:cNvSpPr/>
          <p:nvPr/>
        </p:nvSpPr>
        <p:spPr>
          <a:xfrm>
            <a:off x="7758690" y="4680065"/>
            <a:ext cx="3737985" cy="166255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7758690" y="4680065"/>
            <a:ext cx="3054927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727" dirty="0"/>
          </a:p>
        </p:txBody>
      </p:sp>
      <p:sp>
        <p:nvSpPr>
          <p:cNvPr id="131" name="Shape 127"/>
          <p:cNvSpPr/>
          <p:nvPr/>
        </p:nvSpPr>
        <p:spPr>
          <a:xfrm>
            <a:off x="7758690" y="4871258"/>
            <a:ext cx="3737985" cy="1737360"/>
          </a:xfrm>
          <a:prstGeom prst="roundRect">
            <a:avLst>
              <a:gd name="adj" fmla="val 197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2" name="Text 128"/>
          <p:cNvSpPr/>
          <p:nvPr/>
        </p:nvSpPr>
        <p:spPr>
          <a:xfrm>
            <a:off x="7816879" y="4871258"/>
            <a:ext cx="3606684" cy="16126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Sentinel XDR demonstrates that four independently-trained ML models — one per telemetry domain — can be fused into a single explainable, actionable threat score with fully automated MITRE-mapped response at CRITICAL severity.
</a:t>
            </a:r>
            <a:r>
              <a:rPr lang="en-US" sz="6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
</a:t>
            </a:r>
            <a:endParaRPr lang="en-US" sz="600" dirty="0"/>
          </a:p>
          <a:p>
            <a:pPr marL="155848" indent="-155848">
              <a:spcAft>
                <a:spcPts val="364"/>
              </a:spcAft>
              <a:buSzPct val="100000"/>
              <a:buChar char="•"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FYP-scale XDR system at IST covering Network, User, System &amp; Malware simultaneously in one platform</a:t>
            </a:r>
            <a:endParaRPr lang="en-US" sz="600" dirty="0"/>
          </a:p>
          <a:p>
            <a:pPr marL="155848" indent="-155848">
              <a:spcAft>
                <a:spcPts val="364"/>
              </a:spcAft>
              <a:buSzPct val="100000"/>
              <a:buChar char="•"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correlation gate requiring ≥2 independent agents to agree before CRITICAL escalation, statistically suppressing correlated false positives</a:t>
            </a:r>
            <a:endParaRPr lang="en-US" sz="600" dirty="0"/>
          </a:p>
          <a:p>
            <a:pPr marL="155848" indent="-155848">
              <a:spcAft>
                <a:spcPts val="364"/>
              </a:spcAft>
              <a:buSzPct val="100000"/>
              <a:buChar char="•"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SHAP-attached alerts providing human-readable reasoning on every HIGH/CRITICAL alert for SOC analysts</a:t>
            </a:r>
            <a:endParaRPr lang="en-US" sz="600" dirty="0"/>
          </a:p>
          <a:p>
            <a:pPr marL="155848" indent="-155848">
              <a:spcAft>
                <a:spcPts val="364"/>
              </a:spcAft>
              <a:buSzPct val="100000"/>
              <a:buChar char="•"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SOAR pipeline verified from live telemetry ingest to downloadable, signed PDF incident report</a:t>
            </a:r>
            <a:endParaRPr lang="en-US" sz="600" dirty="0"/>
          </a:p>
          <a:p>
            <a:pPr marL="155848" indent="-155848">
              <a:buSzPct val="100000"/>
              <a:buChar char="•"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SOC dashboard with live threat monitoring, 2FA, and MFA-gated account recovery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336900" y="4004821"/>
            <a:ext cx="2909455" cy="166255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 sz="818" dirty="0"/>
          </a:p>
        </p:txBody>
      </p:sp>
      <p:sp>
        <p:nvSpPr>
          <p:cNvPr id="22" name="Text 20"/>
          <p:cNvSpPr/>
          <p:nvPr/>
        </p:nvSpPr>
        <p:spPr>
          <a:xfrm>
            <a:off x="1334615" y="3990702"/>
            <a:ext cx="2759825" cy="19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727" dirty="0"/>
          </a:p>
        </p:txBody>
      </p:sp>
      <p:sp>
        <p:nvSpPr>
          <p:cNvPr id="20" name="Text 18"/>
          <p:cNvSpPr/>
          <p:nvPr/>
        </p:nvSpPr>
        <p:spPr>
          <a:xfrm>
            <a:off x="1373685" y="2967644"/>
            <a:ext cx="275982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XDR (Extended Detection &amp; Response) solves this by unifying cross-domain telemetry. Cyber Sentinel XDR takes this further: each of the four agents is independently trained on its own domain-specific dataset, making their failure modes statistically uncorrelated. A real multi-stage intrusion necessarily crosses domains and triggers multiple agents. Coincidental false positives in two unrelated models simultaneously are exponentially less likely — this is the statistical basis for the system's false-positive suppression without sacrificing recall on real attacks.</a:t>
            </a:r>
            <a:endParaRPr lang="en-US" sz="682" dirty="0"/>
          </a:p>
        </p:txBody>
      </p:sp>
      <p:sp>
        <p:nvSpPr>
          <p:cNvPr id="17" name="Shape 15"/>
          <p:cNvSpPr/>
          <p:nvPr/>
        </p:nvSpPr>
        <p:spPr>
          <a:xfrm>
            <a:off x="1367865" y="2709216"/>
            <a:ext cx="2909455" cy="166255"/>
          </a:xfrm>
          <a:prstGeom prst="roundRect">
            <a:avLst>
              <a:gd name="adj" fmla="val 125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2704" y="2709216"/>
            <a:ext cx="2909455" cy="16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7" b="1" kern="0" spc="5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SIGNIFICANCE</a:t>
            </a:r>
            <a:endParaRPr lang="en-US" sz="727" dirty="0"/>
          </a:p>
        </p:txBody>
      </p:sp>
      <p:sp>
        <p:nvSpPr>
          <p:cNvPr id="16" name="Text 14"/>
          <p:cNvSpPr/>
          <p:nvPr/>
        </p:nvSpPr>
        <p:spPr>
          <a:xfrm>
            <a:off x="1336901" y="852575"/>
            <a:ext cx="2759825" cy="643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82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
</a:t>
            </a: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cyber attacks operate across multiple domains simultaneously. An attacker conducts network reconnaissance, spawns malicious processes, abuses stolen credentials, and deploys malware — all as coordinated steps of a single intrusion.
</a:t>
            </a:r>
            <a:r>
              <a:rPr lang="en-US" sz="682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
</a:t>
            </a: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— SIEM, EDR, NDR — each monitor only one domain, forcing SOC analysts to correlate across 3+ unconnected dashboards. This creates:
</a:t>
            </a:r>
            <a:endParaRPr lang="en-US" sz="682" dirty="0"/>
          </a:p>
          <a:p>
            <a:pPr marL="155848" indent="-155848">
              <a:spcAft>
                <a:spcPts val="182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 days average breach dwell time  (IBM, 2023)</a:t>
            </a:r>
            <a:endParaRPr lang="en-US" sz="682" dirty="0"/>
          </a:p>
          <a:p>
            <a:pPr marL="155848" indent="-155848">
              <a:spcAft>
                <a:spcPts val="182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$4.45M average breach cost  (IBM Cost of Data Breach, 2023)</a:t>
            </a:r>
            <a:endParaRPr lang="en-US" sz="682" dirty="0"/>
          </a:p>
          <a:p>
            <a:pPr marL="155848" indent="-155848">
              <a:spcAft>
                <a:spcPts val="182"/>
              </a:spcAft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breaches involve a human element  (Verizon DBIR, 2023)</a:t>
            </a:r>
            <a:endParaRPr lang="en-US" sz="682" dirty="0"/>
          </a:p>
          <a:p>
            <a:pPr marL="155848" indent="-155848">
              <a:buSzPct val="100000"/>
              <a:buChar char="•"/>
            </a:pPr>
            <a:r>
              <a:rPr lang="en-US" sz="682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fatigue from manually correlating 3+ unconnected tools per incident</a:t>
            </a:r>
            <a:endParaRPr lang="en-US" sz="682" dirty="0"/>
          </a:p>
        </p:txBody>
      </p:sp>
      <p:sp>
        <p:nvSpPr>
          <p:cNvPr id="133" name="Shape 31">
            <a:extLst>
              <a:ext uri="{FF2B5EF4-FFF2-40B4-BE49-F238E27FC236}">
                <a16:creationId xmlns:a16="http://schemas.microsoft.com/office/drawing/2014/main" id="{359A6333-D53A-2517-53C4-5D6B040725C9}"/>
              </a:ext>
            </a:extLst>
          </p:cNvPr>
          <p:cNvSpPr/>
          <p:nvPr/>
        </p:nvSpPr>
        <p:spPr>
          <a:xfrm>
            <a:off x="4801229" y="856211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19A8ED7-70D2-09B7-090E-88D960C271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64"/>
          <a:stretch/>
        </p:blipFill>
        <p:spPr>
          <a:xfrm>
            <a:off x="10895910" y="34331"/>
            <a:ext cx="648390" cy="587507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6BF07AC8-B49D-8A3B-0394-C6215EAF1F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04"/>
          <a:stretch/>
        </p:blipFill>
        <p:spPr>
          <a:xfrm>
            <a:off x="1299008" y="5542"/>
            <a:ext cx="886691" cy="64631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48000">
                <a:srgbClr val="0F172A"/>
              </a:gs>
              <a:gs pos="100000">
                <a:srgbClr val="111827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u="none">
                <a:solidFill>
                  <a:srgbClr val="38BDF8"/>
                </a:solidFill>
                <a:latin typeface="Calibri"/>
              </a:rPr>
              <a:t>References &amp; Acknowledgments</a:t>
            </a:r>
          </a:p>
        </p:txBody>
      </p:sp>
      <p:sp>
        <p:nvSpPr>
          <p:cNvPr id="4" name="Folded Corner 3"/>
          <p:cNvSpPr/>
          <p:nvPr/>
        </p:nvSpPr>
        <p:spPr>
          <a:xfrm>
            <a:off x="10561320" y="320040"/>
            <a:ext cx="822960" cy="960120"/>
          </a:xfrm>
          <a:prstGeom prst="foldedCorner">
            <a:avLst/>
          </a:prstGeom>
          <a:noFill/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80192" y="612647"/>
            <a:ext cx="36576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80192" y="740664"/>
            <a:ext cx="50292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80192" y="868680"/>
            <a:ext cx="50292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680192" y="996695"/>
            <a:ext cx="502920" cy="411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417320"/>
            <a:ext cx="356616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u="sng">
                <a:solidFill>
                  <a:srgbClr val="38BDF8"/>
                </a:solidFill>
                <a:latin typeface="Calibri"/>
              </a:rPr>
              <a:t>Academic &amp; Industry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74519"/>
            <a:ext cx="35204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[1]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Olteanu I.C., “Evaluating the response effectiveness of XDR technology” (TU/e).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[2]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“XDR: The Evolution of Endpoint Security Solutions,” ResearchGate.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[3]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“The Rise of Extended Detection and Response,” S&amp;P Global (whitepaper).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[4]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CICIDS2017 dataset (UNB) — training data for intrusion detection.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[5]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NCCS — National Centre for Cyber Security (NED University).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417320"/>
            <a:ext cx="36576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u="sng">
                <a:solidFill>
                  <a:srgbClr val="38BDF8"/>
                </a:solidFill>
                <a:latin typeface="Calibri"/>
              </a:rPr>
              <a:t>Datasets &amp; Core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874519"/>
            <a:ext cx="36118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[6]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Sharafaldin, Lashkari &amp; Ghorbani, “Toward Generating a New Intrusion Detection Dataset and Intrusion Traffic Characterization,” ICISSP, 2018.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[7]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Glasser &amp; Lindauer, “Bridging the Gap: A Pragmatic Approach to Generating Insider Threat Data,” IEEE S&amp;P Workshops, 2013.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[8]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Anderson &amp; Roth, “EMBER: An Open Dataset for Training Static PE Malware ML Models,” arXiv:1804.04637, 2018.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[9]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Liu, Ting &amp; Zhou, “Isolation Forest,” IEEE ICDM, 2008.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[10]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Ke et al., “LightGBM: A Highly Efficient Gradient Boosting Decision Tree,” NeurIPS, 2017.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[11]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Lundberg &amp; Lee, “A Unified Approach to Interpreting Model Predictions” (SHAP), NeurIPS, 2017.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[12]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MITRE Corporation, “MITRE ATT&amp;CK Framework,” attack.mitre.org.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417320"/>
            <a:ext cx="29260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u="sng">
                <a:solidFill>
                  <a:srgbClr val="38BDF8"/>
                </a:solidFill>
                <a:latin typeface="Calibri"/>
              </a:rPr>
              <a:t>Additional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874519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[13]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“Cyber Security Challenges in Pakistan: An Assessment” — Research Article.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u="none">
                <a:solidFill>
                  <a:srgbClr val="38BDF8"/>
                </a:solidFill>
                <a:latin typeface="Calibri"/>
              </a:rPr>
              <a:t>[14] </a:t>
            </a:r>
            <a:r>
              <a:rPr sz="1250" b="0" u="none">
                <a:solidFill>
                  <a:srgbClr val="CBD5E1"/>
                </a:solidFill>
                <a:latin typeface="Calibri"/>
              </a:rPr>
              <a:t>Gartner, “Innovation Insight for Extended Detection and Response (XDR)” (industry report).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977639"/>
            <a:ext cx="29260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u="sng">
                <a:solidFill>
                  <a:srgbClr val="38BDF8"/>
                </a:solidFill>
                <a:latin typeface="Calibri"/>
              </a:rPr>
              <a:t>Acknowledgments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3484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u="none">
                <a:solidFill>
                  <a:srgbClr val="CBD5E1"/>
                </a:solidFill>
                <a:latin typeface="Calibri"/>
              </a:rPr>
              <a:t>We would like to thank our supervisor, Dr. Syed Nasir Shah and Ma’am Sehrish, for their invaluable guidance and support throughout this project.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367" y="1142136"/>
            <a:ext cx="5129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359126" y="2422295"/>
            <a:ext cx="6052293" cy="82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All Of You For Your Valuable Time And Attention 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902590" y="3052888"/>
            <a:ext cx="49377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 SENTINEL XDR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39582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Annas Habib  ·  Syed Mazhar Hussain Shah  ·  Malaika Rashid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928703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Syed Nasir Mehmood Shah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Institute of Space Technology, Islamabad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BD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</TotalTime>
  <Words>8127</Words>
  <Application>Microsoft Office PowerPoint</Application>
  <PresentationFormat>Widescreen</PresentationFormat>
  <Paragraphs>1119</Paragraphs>
  <Slides>82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Sentinel XDR — Final Year Project Defense</dc:title>
  <dc:subject>PptxGenJS Presentation</dc:subject>
  <dc:creator>Annas Habib</dc:creator>
  <cp:lastModifiedBy>Annas Habib</cp:lastModifiedBy>
  <cp:revision>74</cp:revision>
  <dcterms:created xsi:type="dcterms:W3CDTF">2026-06-26T20:51:05Z</dcterms:created>
  <dcterms:modified xsi:type="dcterms:W3CDTF">2026-07-01T04:09:22Z</dcterms:modified>
</cp:coreProperties>
</file>